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decision, not the company history. November 19, PlayStation 5 and Xbox, seventy-nine ninety-nine, and a hundred-dollar edition. The question for the next nine minutes is whether that price is for the copy or for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GTA V is the evidence. Premium launch, PC a year and a half later, then a live service that is still growing in year thirteen, past 230 million units. Fiscal 2027 is the firm trying to run that pattern again at a higher sticker.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Take-Two as only GTA. Mobile is half of fiscal 2026 revenue. GTA was 12.4 percent, about 825 million dollars. The goodwill losses were the mobile acquisition. Cash flow turned positive. The product earns money. GAAP still shows a loss for other reasons.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chart to linger on if someone says live service is dying. Recurrent dollars stay near 5.2 billion. The share falls from 78 to 64 percent because the full game comes back. That is the hybrid, measured.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a shift of demand from a movement along it. New consoles, Online, and re-releases shift demand. The 10-K’s price cuts, three to nine months after launch, move along the curve. 230 million is cumulative. It is not a demand curve.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Fourteen percent price increase. No published elasticity. On our linear scenario, 79.99 is the static monopoly price only if elasticity at 69.99 is about 0.78. More elastic, and the sticker is already too high.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in course order. Demand, marginal revenue at twice the slope, flat marginal cost, falling average cost. Quantity where MR equals MC. Price off the demand curve. The shaded gap to the right is players who value the game above cost and do not get it. Those players are also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Amortization is not marginal cost. The development budget is sunk when the sticker is chosen. A percentage storefront fee cuts profit and does not change the optimal retail price. The chart’s fixed cost is an assumption. The 2.15 billion dollar balance is every unreleased title, not a GTA VI budget.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market before the structure. This title is a copyright monopoly. Publishing is a differentiated oligopoly. Hours after launch are a multi-homing contest with Fortnite and Roblox. Perfect competition would put price near zero. That is not this shelf. Entry produces substitutes, not this good.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sticker is doing too many jobs. Ultimate is second degree. The later discount and the PC window are third degree. The pre-order pack is a zero-marginal-cost bundle. First degree fails on information, arbitrage, and resentment. Time is the third version.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day is still a pipeline. The platform is the second act, which is how GTA V actually worked. Creators are the subsidy side. Engaged players are the money side. Do not charge creators. Do not open the fiction so far that the copyright monopoly thins out.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Zelnick’s benchmark, from a reported Bloomberg interview: PC can be 45 to 50 percent of a big title, and Rockstar serves the console core first. Per 10 million PC buyers, a delay with lost demand and a lower later price leaves hundreds of millions on the table. Double-dip is the upside, not the base.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because-clauses. They are the grade. Price is a test. Name the PC date. Give tools away and charge players. Do not repair a recurrent share that fell because the hit returned.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on what would change our mind. If pre-orders and the first month show elasticity well below 0.78, the sticker can hold and even has room. If the PC share of comparable Rockstar games was tiny, the delay is cheap. Assumptions are in the memo, one 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for the algebra: linear demand through 35 million at 69.99, monopoly price is the midpoint when marginal cost is zero. The fee proof is one line: maximizing one minus tau times R is the same as maximizing 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GAAP loses money: goodwill in prior years, then amortization, interest, stock pay, and a valuation allowance. Operating cash flow was 624 million in fiscal 2026 and is guided above a billion.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Cournot or Bertrand: Bertrand with identical goods would drive price to marginal cost. These goods are not identical. The release-date reaction of other publishers is the oligopoly fact. It is not the pricing model for this title.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used: Grok. No measured elasticity and no disclosed GTA VI budget. Both are labeled in the assumption 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ECONOMICS PROJECT  ·  9 MINUTES</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The eighty-dollar copy</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  /  18</a:t>
            </a:r>
          </a:p>
        </p:txBody>
      </p:sp>
      <p:sp>
        <p:nvSpPr>
          <p:cNvPr id="7" name="TextBox 6"/>
          <p:cNvSpPr txBox="1"/>
          <p:nvPr/>
        </p:nvSpPr>
        <p:spPr>
          <a:xfrm>
            <a:off x="502920" y="1554480"/>
            <a:ext cx="11064240" cy="1645920"/>
          </a:xfrm>
          <a:prstGeom prst="rect">
            <a:avLst/>
          </a:prstGeom>
          <a:noFill/>
        </p:spPr>
        <p:txBody>
          <a:bodyPr wrap="square">
            <a:spAutoFit/>
          </a:bodyPr>
          <a:lstStyle/>
          <a:p>
            <a:pPr algn="l"/>
            <a:r>
              <a:rPr sz="2200" b="0" i="0">
                <a:solidFill>
                  <a:srgbClr val="4A453C"/>
                </a:solidFill>
                <a:latin typeface="Georgia"/>
              </a:rPr>
              <a:t>Take-Two will sell Grand Theft Auto VI on November 19, 2026, at $79.99, with a $99.99 Ultimate Edition. GTA V already showed the pattern. The open question is whether this sticker prices the copy or the network.</a:t>
            </a:r>
          </a:p>
        </p:txBody>
      </p:sp>
      <p:sp>
        <p:nvSpPr>
          <p:cNvPr id="8" name="TextBox 7"/>
          <p:cNvSpPr txBox="1"/>
          <p:nvPr/>
        </p:nvSpPr>
        <p:spPr>
          <a:xfrm>
            <a:off x="502920" y="3383280"/>
            <a:ext cx="11064240" cy="731520"/>
          </a:xfrm>
          <a:prstGeom prst="rect">
            <a:avLst/>
          </a:prstGeom>
          <a:noFill/>
        </p:spPr>
        <p:txBody>
          <a:bodyPr wrap="square">
            <a:spAutoFit/>
          </a:bodyPr>
          <a:lstStyle/>
          <a:p>
            <a:pPr algn="l"/>
            <a:r>
              <a:rPr sz="1800" b="0" i="0">
                <a:solidFill>
                  <a:srgbClr val="1C1915"/>
                </a:solidFill>
                <a:latin typeface="Calibri"/>
              </a:rPr>
              <a:t>PlayStation 5 and Xbox Series X|S. No PC date. Single-player at launch. A free month of GTA+ on digital pre-orders.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THESIS</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A pipeline launch that learned to be a platform</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2  /  18</a:t>
            </a:r>
          </a:p>
        </p:txBody>
      </p:sp>
      <p:sp>
        <p:nvSpPr>
          <p:cNvPr id="7" name="TextBox 6"/>
          <p:cNvSpPr txBox="1"/>
          <p:nvPr/>
        </p:nvSpPr>
        <p:spPr>
          <a:xfrm>
            <a:off x="502920" y="1554480"/>
            <a:ext cx="11064240" cy="1554480"/>
          </a:xfrm>
          <a:prstGeom prst="rect">
            <a:avLst/>
          </a:prstGeom>
          <a:noFill/>
        </p:spPr>
        <p:txBody>
          <a:bodyPr wrap="square">
            <a:spAutoFit/>
          </a:bodyPr>
          <a:lstStyle/>
          <a:p>
            <a:pPr algn="l"/>
            <a:r>
              <a:rPr sz="2200" b="0" i="0">
                <a:solidFill>
                  <a:srgbClr val="4A453C"/>
                </a:solidFill>
                <a:latin typeface="Georgia"/>
              </a:rPr>
              <a:t>GTA V launched at the standard price of its decade, reached PC about nineteen months later, and by August 2026 had sold in more than 230 million units, with Online spending still growing.</a:t>
            </a:r>
          </a:p>
        </p:txBody>
      </p:sp>
      <p:sp>
        <p:nvSpPr>
          <p:cNvPr id="8" name="TextBox 7"/>
          <p:cNvSpPr txBox="1"/>
          <p:nvPr/>
        </p:nvSpPr>
        <p:spPr>
          <a:xfrm>
            <a:off x="502920" y="3291840"/>
            <a:ext cx="11064240" cy="1097280"/>
          </a:xfrm>
          <a:prstGeom prst="rect">
            <a:avLst/>
          </a:prstGeom>
          <a:noFill/>
        </p:spPr>
        <p:txBody>
          <a:bodyPr wrap="square">
            <a:spAutoFit/>
          </a:bodyPr>
          <a:lstStyle/>
          <a:p>
            <a:pPr algn="l"/>
            <a:r>
              <a:rPr sz="1800" b="0" i="0">
                <a:solidFill>
                  <a:srgbClr val="1C1915"/>
                </a:solidFill>
                <a:latin typeface="Calibri"/>
              </a:rPr>
              <a:t>Fiscal 2027 bookings of $8.0 to $8.2 billion assume the firm can restart that pattern at a higher price. Marginal cost of the next copy is near zero. The value of an extra player is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THE FIRM  ·  FISCAL 2026, YEAR ENDED MARCH 31</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Bigger than the myth, still tied to the hit</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3  /  18</a:t>
            </a:r>
          </a:p>
        </p:txBody>
      </p:sp>
      <p:graphicFrame>
        <p:nvGraphicFramePr>
          <p:cNvPr id="7" name="Table 6"/>
          <p:cNvGraphicFramePr>
            <a:graphicFrameLocks noGrp="1"/>
          </p:cNvGraphicFramePr>
          <p:nvPr/>
        </p:nvGraphicFramePr>
        <p:xfrm>
          <a:off x="502920" y="1508760"/>
          <a:ext cx="6949440" cy="4480560"/>
        </p:xfrm>
        <a:graphic>
          <a:graphicData uri="http://schemas.openxmlformats.org/drawingml/2006/table">
            <a:tbl>
              <a:tblPr firstRow="1" bandRow="1">
                <a:tableStyleId>{5C22544A-7EE6-4342-B048-85BDC9FD1C3A}</a:tableStyleId>
              </a:tblPr>
              <a:tblGrid>
                <a:gridCol w="2834640"/>
                <a:gridCol w="4114800"/>
              </a:tblGrid>
              <a:tr h="497840">
                <a:tc>
                  <a:txBody>
                    <a:bodyPr wrap="square"/>
                    <a:lstStyle/>
                    <a:p>
                      <a:r>
                        <a:rPr sz="1400" b="0" i="0">
                          <a:solidFill>
                            <a:srgbClr val="1C1915"/>
                          </a:solidFill>
                          <a:latin typeface="Calibri"/>
                        </a:rPr>
                        <a:t>Net revenue</a:t>
                      </a:r>
                    </a:p>
                  </a:txBody>
                  <a:tcPr anchor="ctr">
                    <a:solidFill>
                      <a:srgbClr val="FBF8F1"/>
                    </a:solidFill>
                  </a:tcPr>
                </a:tc>
                <a:tc>
                  <a:txBody>
                    <a:bodyPr wrap="square"/>
                    <a:lstStyle/>
                    <a:p>
                      <a:r>
                        <a:rPr sz="1400" b="0" i="0">
                          <a:solidFill>
                            <a:srgbClr val="1C1915"/>
                          </a:solidFill>
                          <a:latin typeface="Calibri"/>
                        </a:rPr>
                        <a:t>$6.66B</a:t>
                      </a:r>
                    </a:p>
                  </a:txBody>
                  <a:tcPr anchor="ctr">
                    <a:solidFill>
                      <a:srgbClr val="FBF8F1"/>
                    </a:solidFill>
                  </a:tcPr>
                </a:tc>
              </a:tr>
              <a:tr h="497840">
                <a:tc>
                  <a:txBody>
                    <a:bodyPr wrap="square"/>
                    <a:lstStyle/>
                    <a:p>
                      <a:r>
                        <a:rPr sz="1400" b="0" i="0">
                          <a:solidFill>
                            <a:srgbClr val="1C1915"/>
                          </a:solidFill>
                          <a:latin typeface="Calibri"/>
                        </a:rPr>
                        <a:t>Net bookings</a:t>
                      </a:r>
                    </a:p>
                  </a:txBody>
                  <a:tcPr anchor="ctr">
                    <a:solidFill>
                      <a:srgbClr val="F4EFE4"/>
                    </a:solidFill>
                  </a:tcPr>
                </a:tc>
                <a:tc>
                  <a:txBody>
                    <a:bodyPr wrap="square"/>
                    <a:lstStyle/>
                    <a:p>
                      <a:r>
                        <a:rPr sz="1400" b="0" i="0">
                          <a:solidFill>
                            <a:srgbClr val="1C1915"/>
                          </a:solidFill>
                          <a:latin typeface="Calibri"/>
                        </a:rPr>
                        <a:t>$6.72B</a:t>
                      </a:r>
                    </a:p>
                  </a:txBody>
                  <a:tcPr anchor="ctr">
                    <a:solidFill>
                      <a:srgbClr val="F4EFE4"/>
                    </a:solidFill>
                  </a:tcPr>
                </a:tc>
              </a:tr>
              <a:tr h="497840">
                <a:tc>
                  <a:txBody>
                    <a:bodyPr wrap="square"/>
                    <a:lstStyle/>
                    <a:p>
                      <a:r>
                        <a:rPr sz="1400" b="0" i="0">
                          <a:solidFill>
                            <a:srgbClr val="1C1915"/>
                          </a:solidFill>
                          <a:latin typeface="Calibri"/>
                        </a:rPr>
                        <a:t>Gross margin</a:t>
                      </a:r>
                    </a:p>
                  </a:txBody>
                  <a:tcPr anchor="ctr">
                    <a:solidFill>
                      <a:srgbClr val="FBF8F1"/>
                    </a:solidFill>
                  </a:tcPr>
                </a:tc>
                <a:tc>
                  <a:txBody>
                    <a:bodyPr wrap="square"/>
                    <a:lstStyle/>
                    <a:p>
                      <a:r>
                        <a:rPr sz="1400" b="0" i="0">
                          <a:solidFill>
                            <a:srgbClr val="1C1915"/>
                          </a:solidFill>
                          <a:latin typeface="Calibri"/>
                        </a:rPr>
                        <a:t>57.2%, up from 41.9% in FY24</a:t>
                      </a:r>
                    </a:p>
                  </a:txBody>
                  <a:tcPr anchor="ctr">
                    <a:solidFill>
                      <a:srgbClr val="FBF8F1"/>
                    </a:solidFill>
                  </a:tcPr>
                </a:tc>
              </a:tr>
              <a:tr h="497840">
                <a:tc>
                  <a:txBody>
                    <a:bodyPr wrap="square"/>
                    <a:lstStyle/>
                    <a:p>
                      <a:r>
                        <a:rPr sz="1400" b="0" i="0">
                          <a:solidFill>
                            <a:srgbClr val="1C1915"/>
                          </a:solidFill>
                          <a:latin typeface="Calibri"/>
                        </a:rPr>
                        <a:t>Recurrent share of revenue</a:t>
                      </a:r>
                    </a:p>
                  </a:txBody>
                  <a:tcPr anchor="ctr">
                    <a:solidFill>
                      <a:srgbClr val="F4EFE4"/>
                    </a:solidFill>
                  </a:tcPr>
                </a:tc>
                <a:tc>
                  <a:txBody>
                    <a:bodyPr wrap="square"/>
                    <a:lstStyle/>
                    <a:p>
                      <a:r>
                        <a:rPr sz="1400" b="0" i="0">
                          <a:solidFill>
                            <a:srgbClr val="1C1915"/>
                          </a:solidFill>
                          <a:latin typeface="Calibri"/>
                        </a:rPr>
                        <a:t>78%</a:t>
                      </a:r>
                    </a:p>
                  </a:txBody>
                  <a:tcPr anchor="ctr">
                    <a:solidFill>
                      <a:srgbClr val="F4EFE4"/>
                    </a:solidFill>
                  </a:tcPr>
                </a:tc>
              </a:tr>
              <a:tr h="497840">
                <a:tc>
                  <a:txBody>
                    <a:bodyPr wrap="square"/>
                    <a:lstStyle/>
                    <a:p>
                      <a:r>
                        <a:rPr sz="1400" b="0" i="0">
                          <a:solidFill>
                            <a:srgbClr val="1C1915"/>
                          </a:solidFill>
                          <a:latin typeface="Calibri"/>
                        </a:rPr>
                        <a:t>Digital share</a:t>
                      </a:r>
                    </a:p>
                  </a:txBody>
                  <a:tcPr anchor="ctr">
                    <a:solidFill>
                      <a:srgbClr val="FBF8F1"/>
                    </a:solidFill>
                  </a:tcPr>
                </a:tc>
                <a:tc>
                  <a:txBody>
                    <a:bodyPr wrap="square"/>
                    <a:lstStyle/>
                    <a:p>
                      <a:r>
                        <a:rPr sz="1400" b="0" i="0">
                          <a:solidFill>
                            <a:srgbClr val="1C1915"/>
                          </a:solidFill>
                          <a:latin typeface="Calibri"/>
                        </a:rPr>
                        <a:t>97%</a:t>
                      </a:r>
                    </a:p>
                  </a:txBody>
                  <a:tcPr anchor="ctr">
                    <a:solidFill>
                      <a:srgbClr val="FBF8F1"/>
                    </a:solidFill>
                  </a:tcPr>
                </a:tc>
              </a:tr>
              <a:tr h="497840">
                <a:tc>
                  <a:txBody>
                    <a:bodyPr wrap="square"/>
                    <a:lstStyle/>
                    <a:p>
                      <a:r>
                        <a:rPr sz="1400" b="0" i="0">
                          <a:solidFill>
                            <a:srgbClr val="1C1915"/>
                          </a:solidFill>
                          <a:latin typeface="Calibri"/>
                        </a:rPr>
                        <a:t>Mobile / console / PC</a:t>
                      </a:r>
                    </a:p>
                  </a:txBody>
                  <a:tcPr anchor="ctr">
                    <a:solidFill>
                      <a:srgbClr val="F4EFE4"/>
                    </a:solidFill>
                  </a:tcPr>
                </a:tc>
                <a:tc>
                  <a:txBody>
                    <a:bodyPr wrap="square"/>
                    <a:lstStyle/>
                    <a:p>
                      <a:r>
                        <a:rPr sz="1400" b="0" i="0">
                          <a:solidFill>
                            <a:srgbClr val="1C1915"/>
                          </a:solidFill>
                          <a:latin typeface="Calibri"/>
                        </a:rPr>
                        <a:t>50% / 39% / 11%</a:t>
                      </a:r>
                    </a:p>
                  </a:txBody>
                  <a:tcPr anchor="ctr">
                    <a:solidFill>
                      <a:srgbClr val="F4EFE4"/>
                    </a:solidFill>
                  </a:tcPr>
                </a:tc>
              </a:tr>
              <a:tr h="497840">
                <a:tc>
                  <a:txBody>
                    <a:bodyPr wrap="square"/>
                    <a:lstStyle/>
                    <a:p>
                      <a:r>
                        <a:rPr sz="1400" b="0" i="0">
                          <a:solidFill>
                            <a:srgbClr val="1C1915"/>
                          </a:solidFill>
                          <a:latin typeface="Calibri"/>
                        </a:rPr>
                        <a:t>GTA share of revenue</a:t>
                      </a:r>
                    </a:p>
                  </a:txBody>
                  <a:tcPr anchor="ctr">
                    <a:solidFill>
                      <a:srgbClr val="FBF8F1"/>
                    </a:solidFill>
                  </a:tcPr>
                </a:tc>
                <a:tc>
                  <a:txBody>
                    <a:bodyPr wrap="square"/>
                    <a:lstStyle/>
                    <a:p>
                      <a:r>
                        <a:rPr sz="1400" b="0" i="0">
                          <a:solidFill>
                            <a:srgbClr val="1C1915"/>
                          </a:solidFill>
                          <a:latin typeface="Calibri"/>
                        </a:rPr>
                        <a:t>12.4%, about $825M</a:t>
                      </a:r>
                    </a:p>
                  </a:txBody>
                  <a:tcPr anchor="ctr">
                    <a:solidFill>
                      <a:srgbClr val="FBF8F1"/>
                    </a:solidFill>
                  </a:tcPr>
                </a:tc>
              </a:tr>
              <a:tr h="497840">
                <a:tc>
                  <a:txBody>
                    <a:bodyPr wrap="square"/>
                    <a:lstStyle/>
                    <a:p>
                      <a:r>
                        <a:rPr sz="1400" b="0" i="0">
                          <a:solidFill>
                            <a:srgbClr val="1C1915"/>
                          </a:solidFill>
                          <a:latin typeface="Calibri"/>
                        </a:rPr>
                        <a:t>Operating cash flow</a:t>
                      </a:r>
                    </a:p>
                  </a:txBody>
                  <a:tcPr anchor="ctr">
                    <a:solidFill>
                      <a:srgbClr val="F4EFE4"/>
                    </a:solidFill>
                  </a:tcPr>
                </a:tc>
                <a:tc>
                  <a:txBody>
                    <a:bodyPr wrap="square"/>
                    <a:lstStyle/>
                    <a:p>
                      <a:r>
                        <a:rPr sz="1400" b="0" i="0">
                          <a:solidFill>
                            <a:srgbClr val="1C1915"/>
                          </a:solidFill>
                          <a:latin typeface="Calibri"/>
                        </a:rPr>
                        <a:t>$624M, after two negative years</a:t>
                      </a:r>
                    </a:p>
                  </a:txBody>
                  <a:tcPr anchor="ctr">
                    <a:solidFill>
                      <a:srgbClr val="F4EFE4"/>
                    </a:solidFill>
                  </a:tcPr>
                </a:tc>
              </a:tr>
              <a:tr h="497840">
                <a:tc>
                  <a:txBody>
                    <a:bodyPr wrap="square"/>
                    <a:lstStyle/>
                    <a:p>
                      <a:r>
                        <a:rPr sz="1400" b="0" i="0">
                          <a:solidFill>
                            <a:srgbClr val="1C1915"/>
                          </a:solidFill>
                          <a:latin typeface="Calibri"/>
                        </a:rPr>
                        <a:t>GAAP net loss</a:t>
                      </a:r>
                    </a:p>
                  </a:txBody>
                  <a:tcPr anchor="ctr">
                    <a:solidFill>
                      <a:srgbClr val="FBF8F1"/>
                    </a:solidFill>
                  </a:tcPr>
                </a:tc>
                <a:tc>
                  <a:txBody>
                    <a:bodyPr wrap="square"/>
                    <a:lstStyle/>
                    <a:p>
                      <a:r>
                        <a:rPr sz="1400" b="0" i="0">
                          <a:solidFill>
                            <a:srgbClr val="1C1915"/>
                          </a:solidFill>
                          <a:latin typeface="Calibri"/>
                        </a:rPr>
                        <a:t>$298M, no goodwill charge this year</a:t>
                      </a:r>
                    </a:p>
                  </a:txBody>
                  <a:tcPr anchor="ctr">
                    <a:solidFill>
                      <a:srgbClr val="FBF8F1"/>
                    </a:solidFill>
                  </a:tcPr>
                </a:tc>
              </a:tr>
            </a:tbl>
          </a:graphicData>
        </a:graphic>
      </p:graphicFrame>
      <p:sp>
        <p:nvSpPr>
          <p:cNvPr id="8" name="Rectangle 7"/>
          <p:cNvSpPr/>
          <p:nvPr/>
        </p:nvSpPr>
        <p:spPr>
          <a:xfrm>
            <a:off x="7680960" y="1554480"/>
            <a:ext cx="54864" cy="2194560"/>
          </a:xfrm>
          <a:prstGeom prst="rect">
            <a:avLst/>
          </a:prstGeom>
          <a:solidFill>
            <a:srgbClr val="8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45552" y="1554480"/>
            <a:ext cx="3858768" cy="2194560"/>
          </a:xfrm>
          <a:prstGeom prst="rect">
            <a:avLst/>
          </a:prstGeom>
          <a:noFill/>
        </p:spPr>
        <p:txBody>
          <a:bodyPr wrap="square">
            <a:spAutoFit/>
          </a:bodyPr>
          <a:lstStyle/>
          <a:p>
            <a:pPr algn="l"/>
            <a:r>
              <a:rPr sz="1600" b="0" i="0">
                <a:solidFill>
                  <a:srgbClr val="4A453C"/>
                </a:solidFill>
                <a:latin typeface="Calibri"/>
              </a:rPr>
              <a:t>Prior-year losses were mobile goodwill impairments, $2.3B then $3.5B. Fiscal 2027 guide: Rockstar 37%, Zynga 34%, 2K 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DEMAND COMPOSITION</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The recurrent share falls because the hit returns</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4  /  18</a:t>
            </a:r>
          </a:p>
        </p:txBody>
      </p:sp>
      <p:pic>
        <p:nvPicPr>
          <p:cNvPr id="7" name="Picture 6" descr="mix.png"/>
          <p:cNvPicPr>
            <a:picLocks noChangeAspect="1"/>
          </p:cNvPicPr>
          <p:nvPr/>
        </p:nvPicPr>
        <p:blipFill>
          <a:blip r:embed="rId2"/>
          <a:stretch>
            <a:fillRect/>
          </a:stretch>
        </p:blipFill>
        <p:spPr>
          <a:xfrm>
            <a:off x="411480" y="1417320"/>
            <a:ext cx="11338560" cy="48920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LECTURE 2  ·  DEMAND</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230 million units are a history of shifts</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5  /  18</a:t>
            </a:r>
          </a:p>
        </p:txBody>
      </p:sp>
      <p:pic>
        <p:nvPicPr>
          <p:cNvPr id="7" name="Picture 6" descr="demand.png"/>
          <p:cNvPicPr>
            <a:picLocks noChangeAspect="1"/>
          </p:cNvPicPr>
          <p:nvPr/>
        </p:nvPicPr>
        <p:blipFill>
          <a:blip r:embed="rId2"/>
          <a:stretch>
            <a:fillRect/>
          </a:stretch>
        </p:blipFill>
        <p:spPr>
          <a:xfrm>
            <a:off x="365760" y="1371600"/>
            <a:ext cx="11430000" cy="49834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LECTURE 2  ·  ELASTICITY  ·  SCENARIOS, NOT A FORECAST</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$79.99 is optimal only if fans are moderately inelastic</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6  /  18</a:t>
            </a:r>
          </a:p>
        </p:txBody>
      </p:sp>
      <p:graphicFrame>
        <p:nvGraphicFramePr>
          <p:cNvPr id="7" name="Table 6"/>
          <p:cNvGraphicFramePr>
            <a:graphicFrameLocks noGrp="1"/>
          </p:cNvGraphicFramePr>
          <p:nvPr/>
        </p:nvGraphicFramePr>
        <p:xfrm>
          <a:off x="502920" y="1508760"/>
          <a:ext cx="11155680" cy="3200400"/>
        </p:xfrm>
        <a:graphic>
          <a:graphicData uri="http://schemas.openxmlformats.org/drawingml/2006/table">
            <a:tbl>
              <a:tblPr firstRow="1" bandRow="1">
                <a:tableStyleId>{5C22544A-7EE6-4342-B048-85BDC9FD1C3A}</a:tableStyleId>
              </a:tblPr>
              <a:tblGrid>
                <a:gridCol w="2788920"/>
                <a:gridCol w="2788920"/>
                <a:gridCol w="2788920"/>
                <a:gridCol w="2788920"/>
              </a:tblGrid>
              <a:tr h="533400">
                <a:tc>
                  <a:txBody>
                    <a:bodyPr wrap="square"/>
                    <a:lstStyle/>
                    <a:p>
                      <a:r>
                        <a:rPr sz="1500" b="1" i="0">
                          <a:solidFill>
                            <a:srgbClr val="4A453C"/>
                          </a:solidFill>
                          <a:latin typeface="Calibri"/>
                        </a:rPr>
                        <a:t>|ε| at $69.99</a:t>
                      </a:r>
                    </a:p>
                  </a:txBody>
                  <a:tcPr anchor="ctr">
                    <a:solidFill>
                      <a:srgbClr val="EFEAE0"/>
                    </a:solidFill>
                  </a:tcPr>
                </a:tc>
                <a:tc>
                  <a:txBody>
                    <a:bodyPr wrap="square"/>
                    <a:lstStyle/>
                    <a:p>
                      <a:r>
                        <a:rPr sz="1500" b="1" i="0">
                          <a:solidFill>
                            <a:srgbClr val="4A453C"/>
                          </a:solidFill>
                          <a:latin typeface="Calibri"/>
                        </a:rPr>
                        <a:t>Units at $79.99</a:t>
                      </a:r>
                    </a:p>
                  </a:txBody>
                  <a:tcPr anchor="ctr">
                    <a:solidFill>
                      <a:srgbClr val="EFEAE0"/>
                    </a:solidFill>
                  </a:tcPr>
                </a:tc>
                <a:tc>
                  <a:txBody>
                    <a:bodyPr wrap="square"/>
                    <a:lstStyle/>
                    <a:p>
                      <a:r>
                        <a:rPr sz="1500" b="1" i="0">
                          <a:solidFill>
                            <a:srgbClr val="4A453C"/>
                          </a:solidFill>
                          <a:latin typeface="Calibri"/>
                        </a:rPr>
                        <a:t>Revenue change</a:t>
                      </a:r>
                    </a:p>
                  </a:txBody>
                  <a:tcPr anchor="ctr">
                    <a:solidFill>
                      <a:srgbClr val="EFEAE0"/>
                    </a:solidFill>
                  </a:tcPr>
                </a:tc>
                <a:tc>
                  <a:txBody>
                    <a:bodyPr wrap="square"/>
                    <a:lstStyle/>
                    <a:p>
                      <a:r>
                        <a:rPr sz="1500" b="1" i="0">
                          <a:solidFill>
                            <a:srgbClr val="4A453C"/>
                          </a:solidFill>
                          <a:latin typeface="Calibri"/>
                        </a:rPr>
                        <a:t>Static monopoly price</a:t>
                      </a:r>
                    </a:p>
                  </a:txBody>
                  <a:tcPr anchor="ctr">
                    <a:solidFill>
                      <a:srgbClr val="EFEAE0"/>
                    </a:solidFill>
                  </a:tcPr>
                </a:tc>
              </a:tr>
              <a:tr h="533400">
                <a:tc>
                  <a:txBody>
                    <a:bodyPr wrap="square"/>
                    <a:lstStyle/>
                    <a:p>
                      <a:r>
                        <a:rPr sz="1500" b="0" i="0">
                          <a:solidFill>
                            <a:srgbClr val="1C1915"/>
                          </a:solidFill>
                          <a:latin typeface="Calibri"/>
                        </a:rPr>
                        <a:t>0.40</a:t>
                      </a:r>
                    </a:p>
                  </a:txBody>
                  <a:tcPr anchor="ctr">
                    <a:solidFill>
                      <a:srgbClr val="FBF8F1"/>
                    </a:solidFill>
                  </a:tcPr>
                </a:tc>
                <a:tc>
                  <a:txBody>
                    <a:bodyPr wrap="square"/>
                    <a:lstStyle/>
                    <a:p>
                      <a:r>
                        <a:rPr sz="1500" b="0" i="0">
                          <a:solidFill>
                            <a:srgbClr val="1C1915"/>
                          </a:solidFill>
                          <a:latin typeface="Calibri"/>
                        </a:rPr>
                        <a:t>33.0M</a:t>
                      </a:r>
                    </a:p>
                  </a:txBody>
                  <a:tcPr anchor="ctr">
                    <a:solidFill>
                      <a:srgbClr val="FBF8F1"/>
                    </a:solidFill>
                  </a:tcPr>
                </a:tc>
                <a:tc>
                  <a:txBody>
                    <a:bodyPr wrap="square"/>
                    <a:lstStyle/>
                    <a:p>
                      <a:r>
                        <a:rPr sz="1500" b="0" i="0">
                          <a:solidFill>
                            <a:srgbClr val="1C1915"/>
                          </a:solidFill>
                          <a:latin typeface="Calibri"/>
                        </a:rPr>
                        <a:t>+$190M</a:t>
                      </a:r>
                    </a:p>
                  </a:txBody>
                  <a:tcPr anchor="ctr">
                    <a:solidFill>
                      <a:srgbClr val="FBF8F1"/>
                    </a:solidFill>
                  </a:tcPr>
                </a:tc>
                <a:tc>
                  <a:txBody>
                    <a:bodyPr wrap="square"/>
                    <a:lstStyle/>
                    <a:p>
                      <a:r>
                        <a:rPr sz="1500" b="0" i="0">
                          <a:solidFill>
                            <a:srgbClr val="1C1915"/>
                          </a:solidFill>
                          <a:latin typeface="Calibri"/>
                        </a:rPr>
                        <a:t>$122</a:t>
                      </a:r>
                    </a:p>
                  </a:txBody>
                  <a:tcPr anchor="ctr">
                    <a:solidFill>
                      <a:srgbClr val="FBF8F1"/>
                    </a:solidFill>
                  </a:tcPr>
                </a:tc>
              </a:tr>
              <a:tr h="533400">
                <a:tc>
                  <a:txBody>
                    <a:bodyPr wrap="square"/>
                    <a:lstStyle/>
                    <a:p>
                      <a:r>
                        <a:rPr sz="1500" b="0" i="0">
                          <a:solidFill>
                            <a:srgbClr val="1C1915"/>
                          </a:solidFill>
                          <a:latin typeface="Calibri"/>
                        </a:rPr>
                        <a:t>0.70</a:t>
                      </a:r>
                    </a:p>
                  </a:txBody>
                  <a:tcPr anchor="ctr">
                    <a:solidFill>
                      <a:srgbClr val="F4EFE4"/>
                    </a:solidFill>
                  </a:tcPr>
                </a:tc>
                <a:tc>
                  <a:txBody>
                    <a:bodyPr wrap="square"/>
                    <a:lstStyle/>
                    <a:p>
                      <a:r>
                        <a:rPr sz="1500" b="0" i="0">
                          <a:solidFill>
                            <a:srgbClr val="1C1915"/>
                          </a:solidFill>
                          <a:latin typeface="Calibri"/>
                        </a:rPr>
                        <a:t>31.5M</a:t>
                      </a:r>
                    </a:p>
                  </a:txBody>
                  <a:tcPr anchor="ctr">
                    <a:solidFill>
                      <a:srgbClr val="F4EFE4"/>
                    </a:solidFill>
                  </a:tcPr>
                </a:tc>
                <a:tc>
                  <a:txBody>
                    <a:bodyPr wrap="square"/>
                    <a:lstStyle/>
                    <a:p>
                      <a:r>
                        <a:rPr sz="1500" b="0" i="0">
                          <a:solidFill>
                            <a:srgbClr val="1C1915"/>
                          </a:solidFill>
                          <a:latin typeface="Calibri"/>
                        </a:rPr>
                        <a:t>+$70M</a:t>
                      </a:r>
                    </a:p>
                  </a:txBody>
                  <a:tcPr anchor="ctr">
                    <a:solidFill>
                      <a:srgbClr val="F4EFE4"/>
                    </a:solidFill>
                  </a:tcPr>
                </a:tc>
                <a:tc>
                  <a:txBody>
                    <a:bodyPr wrap="square"/>
                    <a:lstStyle/>
                    <a:p>
                      <a:r>
                        <a:rPr sz="1500" b="0" i="0">
                          <a:solidFill>
                            <a:srgbClr val="1C1915"/>
                          </a:solidFill>
                          <a:latin typeface="Calibri"/>
                        </a:rPr>
                        <a:t>$85</a:t>
                      </a:r>
                    </a:p>
                  </a:txBody>
                  <a:tcPr anchor="ctr">
                    <a:solidFill>
                      <a:srgbClr val="F4EFE4"/>
                    </a:solidFill>
                  </a:tcPr>
                </a:tc>
              </a:tr>
              <a:tr h="533400">
                <a:tc>
                  <a:txBody>
                    <a:bodyPr wrap="square"/>
                    <a:lstStyle/>
                    <a:p>
                      <a:r>
                        <a:rPr sz="1500" b="0" i="0">
                          <a:solidFill>
                            <a:srgbClr val="1C1915"/>
                          </a:solidFill>
                          <a:latin typeface="Calibri"/>
                        </a:rPr>
                        <a:t>0.78</a:t>
                      </a:r>
                    </a:p>
                  </a:txBody>
                  <a:tcPr anchor="ctr">
                    <a:solidFill>
                      <a:srgbClr val="FBF8F1"/>
                    </a:solidFill>
                  </a:tcPr>
                </a:tc>
                <a:tc>
                  <a:txBody>
                    <a:bodyPr wrap="square"/>
                    <a:lstStyle/>
                    <a:p>
                      <a:r>
                        <a:rPr sz="1500" b="0" i="0">
                          <a:solidFill>
                            <a:srgbClr val="1C1915"/>
                          </a:solidFill>
                          <a:latin typeface="Calibri"/>
                        </a:rPr>
                        <a:t>31.1M</a:t>
                      </a:r>
                    </a:p>
                  </a:txBody>
                  <a:tcPr anchor="ctr">
                    <a:solidFill>
                      <a:srgbClr val="FBF8F1"/>
                    </a:solidFill>
                  </a:tcPr>
                </a:tc>
                <a:tc>
                  <a:txBody>
                    <a:bodyPr wrap="square"/>
                    <a:lstStyle/>
                    <a:p>
                      <a:r>
                        <a:rPr sz="1500" b="0" i="0">
                          <a:solidFill>
                            <a:srgbClr val="1C1915"/>
                          </a:solidFill>
                          <a:latin typeface="Calibri"/>
                        </a:rPr>
                        <a:t>+$38M, the peak</a:t>
                      </a:r>
                    </a:p>
                  </a:txBody>
                  <a:tcPr anchor="ctr">
                    <a:solidFill>
                      <a:srgbClr val="FBF8F1"/>
                    </a:solidFill>
                  </a:tcPr>
                </a:tc>
                <a:tc>
                  <a:txBody>
                    <a:bodyPr wrap="square"/>
                    <a:lstStyle/>
                    <a:p>
                      <a:r>
                        <a:rPr sz="1500" b="0" i="0">
                          <a:solidFill>
                            <a:srgbClr val="1C1915"/>
                          </a:solidFill>
                          <a:latin typeface="Calibri"/>
                        </a:rPr>
                        <a:t>$80</a:t>
                      </a:r>
                    </a:p>
                  </a:txBody>
                  <a:tcPr anchor="ctr">
                    <a:solidFill>
                      <a:srgbClr val="FBF8F1"/>
                    </a:solidFill>
                  </a:tcPr>
                </a:tc>
              </a:tr>
              <a:tr h="533400">
                <a:tc>
                  <a:txBody>
                    <a:bodyPr wrap="square"/>
                    <a:lstStyle/>
                    <a:p>
                      <a:r>
                        <a:rPr sz="1500" b="0" i="0">
                          <a:solidFill>
                            <a:srgbClr val="1C1915"/>
                          </a:solidFill>
                          <a:latin typeface="Calibri"/>
                        </a:rPr>
                        <a:t>1.00</a:t>
                      </a:r>
                    </a:p>
                  </a:txBody>
                  <a:tcPr anchor="ctr">
                    <a:solidFill>
                      <a:srgbClr val="F4EFE4"/>
                    </a:solidFill>
                  </a:tcPr>
                </a:tc>
                <a:tc>
                  <a:txBody>
                    <a:bodyPr wrap="square"/>
                    <a:lstStyle/>
                    <a:p>
                      <a:r>
                        <a:rPr sz="1500" b="0" i="0">
                          <a:solidFill>
                            <a:srgbClr val="1C1915"/>
                          </a:solidFill>
                          <a:latin typeface="Calibri"/>
                        </a:rPr>
                        <a:t>30.0M</a:t>
                      </a:r>
                    </a:p>
                  </a:txBody>
                  <a:tcPr anchor="ctr">
                    <a:solidFill>
                      <a:srgbClr val="F4EFE4"/>
                    </a:solidFill>
                  </a:tcPr>
                </a:tc>
                <a:tc>
                  <a:txBody>
                    <a:bodyPr wrap="square"/>
                    <a:lstStyle/>
                    <a:p>
                      <a:r>
                        <a:rPr sz="1500" b="0" i="0">
                          <a:solidFill>
                            <a:srgbClr val="1C1915"/>
                          </a:solidFill>
                          <a:latin typeface="Calibri"/>
                        </a:rPr>
                        <a:t>−$50M</a:t>
                      </a:r>
                    </a:p>
                  </a:txBody>
                  <a:tcPr anchor="ctr">
                    <a:solidFill>
                      <a:srgbClr val="F4EFE4"/>
                    </a:solidFill>
                  </a:tcPr>
                </a:tc>
                <a:tc>
                  <a:txBody>
                    <a:bodyPr wrap="square"/>
                    <a:lstStyle/>
                    <a:p>
                      <a:r>
                        <a:rPr sz="1500" b="0" i="0">
                          <a:solidFill>
                            <a:srgbClr val="1C1915"/>
                          </a:solidFill>
                          <a:latin typeface="Calibri"/>
                        </a:rPr>
                        <a:t>$70</a:t>
                      </a:r>
                    </a:p>
                  </a:txBody>
                  <a:tcPr anchor="ctr">
                    <a:solidFill>
                      <a:srgbClr val="F4EFE4"/>
                    </a:solidFill>
                  </a:tcPr>
                </a:tc>
              </a:tr>
              <a:tr h="533400">
                <a:tc>
                  <a:txBody>
                    <a:bodyPr wrap="square"/>
                    <a:lstStyle/>
                    <a:p>
                      <a:r>
                        <a:rPr sz="1500" b="0" i="0">
                          <a:solidFill>
                            <a:srgbClr val="1C1915"/>
                          </a:solidFill>
                          <a:latin typeface="Calibri"/>
                        </a:rPr>
                        <a:t>1.20</a:t>
                      </a:r>
                    </a:p>
                  </a:txBody>
                  <a:tcPr anchor="ctr">
                    <a:solidFill>
                      <a:srgbClr val="FBF8F1"/>
                    </a:solidFill>
                  </a:tcPr>
                </a:tc>
                <a:tc>
                  <a:txBody>
                    <a:bodyPr wrap="square"/>
                    <a:lstStyle/>
                    <a:p>
                      <a:r>
                        <a:rPr sz="1500" b="0" i="0">
                          <a:solidFill>
                            <a:srgbClr val="1C1915"/>
                          </a:solidFill>
                          <a:latin typeface="Calibri"/>
                        </a:rPr>
                        <a:t>29.0M</a:t>
                      </a:r>
                    </a:p>
                  </a:txBody>
                  <a:tcPr anchor="ctr">
                    <a:solidFill>
                      <a:srgbClr val="FBF8F1"/>
                    </a:solidFill>
                  </a:tcPr>
                </a:tc>
                <a:tc>
                  <a:txBody>
                    <a:bodyPr wrap="square"/>
                    <a:lstStyle/>
                    <a:p>
                      <a:r>
                        <a:rPr sz="1500" b="0" i="0">
                          <a:solidFill>
                            <a:srgbClr val="1C1915"/>
                          </a:solidFill>
                          <a:latin typeface="Calibri"/>
                        </a:rPr>
                        <a:t>−$130M</a:t>
                      </a:r>
                    </a:p>
                  </a:txBody>
                  <a:tcPr anchor="ctr">
                    <a:solidFill>
                      <a:srgbClr val="FBF8F1"/>
                    </a:solidFill>
                  </a:tcPr>
                </a:tc>
                <a:tc>
                  <a:txBody>
                    <a:bodyPr wrap="square"/>
                    <a:lstStyle/>
                    <a:p>
                      <a:r>
                        <a:rPr sz="1500" b="0" i="0">
                          <a:solidFill>
                            <a:srgbClr val="1C1915"/>
                          </a:solidFill>
                          <a:latin typeface="Calibri"/>
                        </a:rPr>
                        <a:t>$64</a:t>
                      </a:r>
                    </a:p>
                  </a:txBody>
                  <a:tcPr anchor="ctr">
                    <a:solidFill>
                      <a:srgbClr val="FBF8F1"/>
                    </a:solidFill>
                  </a:tcPr>
                </a:tc>
              </a:tr>
            </a:tbl>
          </a:graphicData>
        </a:graphic>
      </p:graphicFrame>
      <p:sp>
        <p:nvSpPr>
          <p:cNvPr id="8" name="Rectangle 7"/>
          <p:cNvSpPr/>
          <p:nvPr/>
        </p:nvSpPr>
        <p:spPr>
          <a:xfrm>
            <a:off x="502920" y="4983480"/>
            <a:ext cx="54864" cy="1051560"/>
          </a:xfrm>
          <a:prstGeom prst="rect">
            <a:avLst/>
          </a:prstGeom>
          <a:solidFill>
            <a:srgbClr val="8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4983480"/>
            <a:ext cx="10991088" cy="1051560"/>
          </a:xfrm>
          <a:prstGeom prst="rect">
            <a:avLst/>
          </a:prstGeom>
          <a:noFill/>
        </p:spPr>
        <p:txBody>
          <a:bodyPr wrap="square">
            <a:spAutoFit/>
          </a:bodyPr>
          <a:lstStyle/>
          <a:p>
            <a:pPr algn="l"/>
            <a:r>
              <a:rPr sz="1600" b="0" i="0">
                <a:solidFill>
                  <a:srgbClr val="4A453C"/>
                </a:solidFill>
                <a:latin typeface="Calibri"/>
              </a:rPr>
              <a:t>Anchor: 35 million console units at $69.99, linear demand, marginal cost zero. A storefront percentage fee does not change which row wins.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LECTURES 4 AND 5  ·  MR = MC</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One seller, a downward slope, a supply point</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7  /  18</a:t>
            </a:r>
          </a:p>
        </p:txBody>
      </p:sp>
      <p:pic>
        <p:nvPicPr>
          <p:cNvPr id="7" name="Picture 6" descr="monopoly.png"/>
          <p:cNvPicPr>
            <a:picLocks noChangeAspect="1"/>
          </p:cNvPicPr>
          <p:nvPr/>
        </p:nvPicPr>
        <p:blipFill>
          <a:blip r:embed="rId2"/>
          <a:stretch>
            <a:fillRect/>
          </a:stretch>
        </p:blipFill>
        <p:spPr>
          <a:xfrm>
            <a:off x="365760" y="1371600"/>
            <a:ext cx="11430000" cy="49834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LECTURES 3 AND 6  ·  COSTS OF AN INFORMATION GOOD</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Average cost falls. The budget is already sunk.</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8  /  18</a:t>
            </a:r>
          </a:p>
        </p:txBody>
      </p:sp>
      <p:pic>
        <p:nvPicPr>
          <p:cNvPr id="7" name="Picture 6" descr="cost.png"/>
          <p:cNvPicPr>
            <a:picLocks noChangeAspect="1"/>
          </p:cNvPicPr>
          <p:nvPr/>
        </p:nvPicPr>
        <p:blipFill>
          <a:blip r:embed="rId2"/>
          <a:stretch>
            <a:fillRect/>
          </a:stretch>
        </p:blipFill>
        <p:spPr>
          <a:xfrm>
            <a:off x="365760" y="1371600"/>
            <a:ext cx="11430000" cy="4983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LECTURES 4 AND 5  ·  NAME THE MARKET FIRST</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A copyright monopoly inside an oligopoly</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9  /  18</a:t>
            </a:r>
          </a:p>
        </p:txBody>
      </p:sp>
      <p:graphicFrame>
        <p:nvGraphicFramePr>
          <p:cNvPr id="7" name="Table 6"/>
          <p:cNvGraphicFramePr>
            <a:graphicFrameLocks noGrp="1"/>
          </p:cNvGraphicFramePr>
          <p:nvPr/>
        </p:nvGraphicFramePr>
        <p:xfrm>
          <a:off x="502920" y="1463040"/>
          <a:ext cx="11155680" cy="2103120"/>
        </p:xfrm>
        <a:graphic>
          <a:graphicData uri="http://schemas.openxmlformats.org/drawingml/2006/table">
            <a:tbl>
              <a:tblPr firstRow="1" bandRow="1">
                <a:tableStyleId>{5C22544A-7EE6-4342-B048-85BDC9FD1C3A}</a:tableStyleId>
              </a:tblPr>
              <a:tblGrid>
                <a:gridCol w="3017520"/>
                <a:gridCol w="3840480"/>
                <a:gridCol w="4297680"/>
              </a:tblGrid>
              <a:tr h="525780">
                <a:tc>
                  <a:txBody>
                    <a:bodyPr wrap="square"/>
                    <a:lstStyle/>
                    <a:p>
                      <a:r>
                        <a:rPr sz="1400" b="1" i="0">
                          <a:solidFill>
                            <a:srgbClr val="4A453C"/>
                          </a:solidFill>
                          <a:latin typeface="Calibri"/>
                        </a:rPr>
                        <a:t>Market</a:t>
                      </a:r>
                    </a:p>
                  </a:txBody>
                  <a:tcPr anchor="ctr">
                    <a:solidFill>
                      <a:srgbClr val="EFEAE0"/>
                    </a:solidFill>
                  </a:tcPr>
                </a:tc>
                <a:tc>
                  <a:txBody>
                    <a:bodyPr wrap="square"/>
                    <a:lstStyle/>
                    <a:p>
                      <a:r>
                        <a:rPr sz="1400" b="1" i="0">
                          <a:solidFill>
                            <a:srgbClr val="4A453C"/>
                          </a:solidFill>
                          <a:latin typeface="Calibri"/>
                        </a:rPr>
                        <a:t>Structure</a:t>
                      </a:r>
                    </a:p>
                  </a:txBody>
                  <a:tcPr anchor="ctr">
                    <a:solidFill>
                      <a:srgbClr val="EFEAE0"/>
                    </a:solidFill>
                  </a:tcPr>
                </a:tc>
                <a:tc>
                  <a:txBody>
                    <a:bodyPr wrap="square"/>
                    <a:lstStyle/>
                    <a:p>
                      <a:r>
                        <a:rPr sz="1400" b="1" i="0">
                          <a:solidFill>
                            <a:srgbClr val="4A453C"/>
                          </a:solidFill>
                          <a:latin typeface="Calibri"/>
                        </a:rPr>
                        <a:t>Price implication</a:t>
                      </a:r>
                    </a:p>
                  </a:txBody>
                  <a:tcPr anchor="ctr">
                    <a:solidFill>
                      <a:srgbClr val="EFEAE0"/>
                    </a:solidFill>
                  </a:tcPr>
                </a:tc>
              </a:tr>
              <a:tr h="525780">
                <a:tc>
                  <a:txBody>
                    <a:bodyPr wrap="square"/>
                    <a:lstStyle/>
                    <a:p>
                      <a:r>
                        <a:rPr sz="1400" b="0" i="0">
                          <a:solidFill>
                            <a:srgbClr val="1C1915"/>
                          </a:solidFill>
                          <a:latin typeface="Calibri"/>
                        </a:rPr>
                        <a:t>This launch</a:t>
                      </a:r>
                    </a:p>
                  </a:txBody>
                  <a:tcPr anchor="ctr">
                    <a:solidFill>
                      <a:srgbClr val="FBF8F1"/>
                    </a:solidFill>
                  </a:tcPr>
                </a:tc>
                <a:tc>
                  <a:txBody>
                    <a:bodyPr wrap="square"/>
                    <a:lstStyle/>
                    <a:p>
                      <a:r>
                        <a:rPr sz="1400" b="0" i="0">
                          <a:solidFill>
                            <a:srgbClr val="1C1915"/>
                          </a:solidFill>
                          <a:latin typeface="Calibri"/>
                        </a:rPr>
                        <a:t>Copyright monopoly</a:t>
                      </a:r>
                    </a:p>
                  </a:txBody>
                  <a:tcPr anchor="ctr">
                    <a:solidFill>
                      <a:srgbClr val="FBF8F1"/>
                    </a:solidFill>
                  </a:tcPr>
                </a:tc>
                <a:tc>
                  <a:txBody>
                    <a:bodyPr wrap="square"/>
                    <a:lstStyle/>
                    <a:p>
                      <a:r>
                        <a:rPr sz="1400" b="0" i="0">
                          <a:solidFill>
                            <a:srgbClr val="1C1915"/>
                          </a:solidFill>
                          <a:latin typeface="Calibri"/>
                        </a:rPr>
                        <a:t>P above MC, where MR = MC</a:t>
                      </a:r>
                    </a:p>
                  </a:txBody>
                  <a:tcPr anchor="ctr">
                    <a:solidFill>
                      <a:srgbClr val="FBF8F1"/>
                    </a:solidFill>
                  </a:tcPr>
                </a:tc>
              </a:tr>
              <a:tr h="525780">
                <a:tc>
                  <a:txBody>
                    <a:bodyPr wrap="square"/>
                    <a:lstStyle/>
                    <a:p>
                      <a:r>
                        <a:rPr sz="1400" b="0" i="0">
                          <a:solidFill>
                            <a:srgbClr val="1C1915"/>
                          </a:solidFill>
                          <a:latin typeface="Calibri"/>
                        </a:rPr>
                        <a:t>Big-budget publishers</a:t>
                      </a:r>
                    </a:p>
                  </a:txBody>
                  <a:tcPr anchor="ctr">
                    <a:solidFill>
                      <a:srgbClr val="F4EFE4"/>
                    </a:solidFill>
                  </a:tcPr>
                </a:tc>
                <a:tc>
                  <a:txBody>
                    <a:bodyPr wrap="square"/>
                    <a:lstStyle/>
                    <a:p>
                      <a:r>
                        <a:rPr sz="1400" b="0" i="0">
                          <a:solidFill>
                            <a:srgbClr val="1C1915"/>
                          </a:solidFill>
                          <a:latin typeface="Calibri"/>
                        </a:rPr>
                        <a:t>Differentiated oligopoly</a:t>
                      </a:r>
                    </a:p>
                  </a:txBody>
                  <a:tcPr anchor="ctr">
                    <a:solidFill>
                      <a:srgbClr val="F4EFE4"/>
                    </a:solidFill>
                  </a:tcPr>
                </a:tc>
                <a:tc>
                  <a:txBody>
                    <a:bodyPr wrap="square"/>
                    <a:lstStyle/>
                    <a:p>
                      <a:r>
                        <a:rPr sz="1400" b="0" i="0">
                          <a:solidFill>
                            <a:srgbClr val="1C1915"/>
                          </a:solidFill>
                          <a:latin typeface="Calibri"/>
                        </a:rPr>
                        <a:t>Few firms, rising first-copy costs</a:t>
                      </a:r>
                    </a:p>
                  </a:txBody>
                  <a:tcPr anchor="ctr">
                    <a:solidFill>
                      <a:srgbClr val="F4EFE4"/>
                    </a:solidFill>
                  </a:tcPr>
                </a:tc>
              </a:tr>
              <a:tr h="525780">
                <a:tc>
                  <a:txBody>
                    <a:bodyPr wrap="square"/>
                    <a:lstStyle/>
                    <a:p>
                      <a:r>
                        <a:rPr sz="1400" b="0" i="0">
                          <a:solidFill>
                            <a:srgbClr val="1C1915"/>
                          </a:solidFill>
                          <a:latin typeface="Calibri"/>
                        </a:rPr>
                        <a:t>Hours after launch</a:t>
                      </a:r>
                    </a:p>
                  </a:txBody>
                  <a:tcPr anchor="ctr">
                    <a:solidFill>
                      <a:srgbClr val="FBF8F1"/>
                    </a:solidFill>
                  </a:tcPr>
                </a:tc>
                <a:tc>
                  <a:txBody>
                    <a:bodyPr wrap="square"/>
                    <a:lstStyle/>
                    <a:p>
                      <a:r>
                        <a:rPr sz="1400" b="0" i="0">
                          <a:solidFill>
                            <a:srgbClr val="1C1915"/>
                          </a:solidFill>
                          <a:latin typeface="Calibri"/>
                        </a:rPr>
                        <a:t>Multi-homing platforms</a:t>
                      </a:r>
                    </a:p>
                  </a:txBody>
                  <a:tcPr anchor="ctr">
                    <a:solidFill>
                      <a:srgbClr val="FBF8F1"/>
                    </a:solidFill>
                  </a:tcPr>
                </a:tc>
                <a:tc>
                  <a:txBody>
                    <a:bodyPr wrap="square"/>
                    <a:lstStyle/>
                    <a:p>
                      <a:r>
                        <a:rPr sz="1400" b="0" i="0">
                          <a:solidFill>
                            <a:srgbClr val="1C1915"/>
                          </a:solidFill>
                          <a:latin typeface="Calibri"/>
                        </a:rPr>
                        <a:t>Fortnite and Roblox cap the markup</a:t>
                      </a:r>
                    </a:p>
                  </a:txBody>
                  <a:tcPr anchor="ctr">
                    <a:solidFill>
                      <a:srgbClr val="FBF8F1"/>
                    </a:solidFill>
                  </a:tcPr>
                </a:tc>
              </a:tr>
            </a:tbl>
          </a:graphicData>
        </a:graphic>
      </p:graphicFrame>
      <p:sp>
        <p:nvSpPr>
          <p:cNvPr id="8" name="TextBox 7"/>
          <p:cNvSpPr txBox="1"/>
          <p:nvPr/>
        </p:nvSpPr>
        <p:spPr>
          <a:xfrm>
            <a:off x="502920" y="3840480"/>
            <a:ext cx="11155680" cy="2194560"/>
          </a:xfrm>
          <a:prstGeom prst="rect">
            <a:avLst/>
          </a:prstGeom>
          <a:noFill/>
        </p:spPr>
        <p:txBody>
          <a:bodyPr wrap="square">
            <a:spAutoFit/>
          </a:bodyPr>
          <a:lstStyle/>
          <a:p>
            <a:pPr algn="l"/>
            <a:r>
              <a:rPr sz="1800" b="0" i="0">
                <a:solidFill>
                  <a:srgbClr val="1C1915"/>
                </a:solidFill>
                <a:latin typeface="Calibri"/>
              </a:rPr>
              <a:t>Perfect competition fails: the good is differentiated, entry cannot copy the IP, and price is not marginal cost. Monopolistic competition’s zero-profit long run fits a mobile puzzle better than it fits GTA. Entrants ship substitutes. They do not inherit the network.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LECTURES 6 AND 7  ·  DISCRIMINATION, BUNDLING</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The menu, mapped to the three degrees</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10  /  18</a:t>
            </a:r>
          </a:p>
        </p:txBody>
      </p:sp>
      <p:graphicFrame>
        <p:nvGraphicFramePr>
          <p:cNvPr id="7" name="Table 6"/>
          <p:cNvGraphicFramePr>
            <a:graphicFrameLocks noGrp="1"/>
          </p:cNvGraphicFramePr>
          <p:nvPr/>
        </p:nvGraphicFramePr>
        <p:xfrm>
          <a:off x="502920" y="1463040"/>
          <a:ext cx="11155680" cy="4663440"/>
        </p:xfrm>
        <a:graphic>
          <a:graphicData uri="http://schemas.openxmlformats.org/drawingml/2006/table">
            <a:tbl>
              <a:tblPr firstRow="1" bandRow="1">
                <a:tableStyleId>{5C22544A-7EE6-4342-B048-85BDC9FD1C3A}</a:tableStyleId>
              </a:tblPr>
              <a:tblGrid>
                <a:gridCol w="2377440"/>
                <a:gridCol w="8778240"/>
              </a:tblGrid>
              <a:tr h="932688">
                <a:tc>
                  <a:txBody>
                    <a:bodyPr wrap="square"/>
                    <a:lstStyle/>
                    <a:p>
                      <a:r>
                        <a:rPr sz="1500" b="0" i="0">
                          <a:solidFill>
                            <a:srgbClr val="1C1915"/>
                          </a:solidFill>
                          <a:latin typeface="Calibri"/>
                        </a:rPr>
                        <a:t>First degree</a:t>
                      </a:r>
                    </a:p>
                  </a:txBody>
                  <a:tcPr anchor="ctr">
                    <a:solidFill>
                      <a:srgbClr val="FBF8F1"/>
                    </a:solidFill>
                  </a:tcPr>
                </a:tc>
                <a:tc>
                  <a:txBody>
                    <a:bodyPr wrap="square"/>
                    <a:lstStyle/>
                    <a:p>
                      <a:r>
                        <a:rPr sz="1500" b="0" i="0">
                          <a:solidFill>
                            <a:srgbClr val="1C1915"/>
                          </a:solidFill>
                          <a:latin typeface="Calibri"/>
                        </a:rPr>
                        <a:t>Unavailable. Willingness to pay is hidden, codes move, and personalized prices create resentment.</a:t>
                      </a:r>
                    </a:p>
                  </a:txBody>
                  <a:tcPr anchor="ctr">
                    <a:solidFill>
                      <a:srgbClr val="FBF8F1"/>
                    </a:solidFill>
                  </a:tcPr>
                </a:tc>
              </a:tr>
              <a:tr h="932688">
                <a:tc>
                  <a:txBody>
                    <a:bodyPr wrap="square"/>
                    <a:lstStyle/>
                    <a:p>
                      <a:r>
                        <a:rPr sz="1500" b="0" i="0">
                          <a:solidFill>
                            <a:srgbClr val="1C1915"/>
                          </a:solidFill>
                          <a:latin typeface="Calibri"/>
                        </a:rPr>
                        <a:t>Second degree</a:t>
                      </a:r>
                    </a:p>
                  </a:txBody>
                  <a:tcPr anchor="ctr">
                    <a:solidFill>
                      <a:srgbClr val="F4EFE4"/>
                    </a:solidFill>
                  </a:tcPr>
                </a:tc>
                <a:tc>
                  <a:txBody>
                    <a:bodyPr wrap="square"/>
                    <a:lstStyle/>
                    <a:p>
                      <a:r>
                        <a:rPr sz="1500" b="0" i="0">
                          <a:solidFill>
                            <a:srgbClr val="1C1915"/>
                          </a:solidFill>
                          <a:latin typeface="Calibri"/>
                        </a:rPr>
                        <a:t>Ultimate Edition, +$20, near-zero marginal cost extras. Players sort themselves.</a:t>
                      </a:r>
                    </a:p>
                  </a:txBody>
                  <a:tcPr anchor="ctr">
                    <a:solidFill>
                      <a:srgbClr val="F4EFE4"/>
                    </a:solidFill>
                  </a:tcPr>
                </a:tc>
              </a:tr>
              <a:tr h="932688">
                <a:tc>
                  <a:txBody>
                    <a:bodyPr wrap="square"/>
                    <a:lstStyle/>
                    <a:p>
                      <a:r>
                        <a:rPr sz="1500" b="0" i="0">
                          <a:solidFill>
                            <a:srgbClr val="1C1915"/>
                          </a:solidFill>
                          <a:latin typeface="Calibri"/>
                        </a:rPr>
                        <a:t>Third degree</a:t>
                      </a:r>
                    </a:p>
                  </a:txBody>
                  <a:tcPr anchor="ctr">
                    <a:solidFill>
                      <a:srgbClr val="FBF8F1"/>
                    </a:solidFill>
                  </a:tcPr>
                </a:tc>
                <a:tc>
                  <a:txBody>
                    <a:bodyPr wrap="square"/>
                    <a:lstStyle/>
                    <a:p>
                      <a:r>
                        <a:rPr sz="1500" b="0" i="0">
                          <a:solidFill>
                            <a:srgbClr val="1C1915"/>
                          </a:solidFill>
                          <a:latin typeface="Calibri"/>
                        </a:rPr>
                        <a:t>Impatient buyers now. The 10-K’s cuts three to nine months later. PC later. Regional storefronts.</a:t>
                      </a:r>
                    </a:p>
                  </a:txBody>
                  <a:tcPr anchor="ctr">
                    <a:solidFill>
                      <a:srgbClr val="FBF8F1"/>
                    </a:solidFill>
                  </a:tcPr>
                </a:tc>
              </a:tr>
              <a:tr h="932688">
                <a:tc>
                  <a:txBody>
                    <a:bodyPr wrap="square"/>
                    <a:lstStyle/>
                    <a:p>
                      <a:r>
                        <a:rPr sz="1500" b="0" i="0">
                          <a:solidFill>
                            <a:srgbClr val="1C1915"/>
                          </a:solidFill>
                          <a:latin typeface="Calibri"/>
                        </a:rPr>
                        <a:t>Bundle</a:t>
                      </a:r>
                    </a:p>
                  </a:txBody>
                  <a:tcPr anchor="ctr">
                    <a:solidFill>
                      <a:srgbClr val="F4EFE4"/>
                    </a:solidFill>
                  </a:tcPr>
                </a:tc>
                <a:tc>
                  <a:txBody>
                    <a:bodyPr wrap="square"/>
                    <a:lstStyle/>
                    <a:p>
                      <a:r>
                        <a:rPr sz="1500" b="0" i="0">
                          <a:solidFill>
                            <a:srgbClr val="1C1915"/>
                          </a:solidFill>
                          <a:latin typeface="Calibri"/>
                        </a:rPr>
                        <a:t>Vintage Vice City Pack plus a month of GTA+, both cheap to deliver once made.</a:t>
                      </a:r>
                    </a:p>
                  </a:txBody>
                  <a:tcPr anchor="ctr">
                    <a:solidFill>
                      <a:srgbClr val="F4EFE4"/>
                    </a:solidFill>
                  </a:tcPr>
                </a:tc>
              </a:tr>
              <a:tr h="932688">
                <a:tc>
                  <a:txBody>
                    <a:bodyPr wrap="square"/>
                    <a:lstStyle/>
                    <a:p>
                      <a:r>
                        <a:rPr sz="1500" b="0" i="0">
                          <a:solidFill>
                            <a:srgbClr val="1C1915"/>
                          </a:solidFill>
                          <a:latin typeface="Calibri"/>
                        </a:rPr>
                        <a:t>Razor and blade</a:t>
                      </a:r>
                    </a:p>
                  </a:txBody>
                  <a:tcPr anchor="ctr">
                    <a:solidFill>
                      <a:srgbClr val="FBF8F1"/>
                    </a:solidFill>
                  </a:tcPr>
                </a:tc>
                <a:tc>
                  <a:txBody>
                    <a:bodyPr wrap="square"/>
                    <a:lstStyle/>
                    <a:p>
                      <a:r>
                        <a:rPr sz="1500" b="0" i="0">
                          <a:solidFill>
                            <a:srgbClr val="1C1915"/>
                          </a:solidFill>
                          <a:latin typeface="Calibri"/>
                        </a:rPr>
                        <a:t>Shark Cards and GTA+. Same person, both products. Resentment is already the constraint.</a:t>
                      </a:r>
                    </a:p>
                  </a:txBody>
                  <a:tcPr anchor="ctr">
                    <a:solidFill>
                      <a:srgbClr val="FBF8F1"/>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LECTURES 8 AND 9  ·  WHICH SIDE IS SUBSIDIZED</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Charge players. Do not charge creators.</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11  /  18</a:t>
            </a:r>
          </a:p>
        </p:txBody>
      </p:sp>
      <p:sp>
        <p:nvSpPr>
          <p:cNvPr id="7" name="TextBox 6"/>
          <p:cNvSpPr txBox="1"/>
          <p:nvPr/>
        </p:nvSpPr>
        <p:spPr>
          <a:xfrm>
            <a:off x="640080" y="1417320"/>
            <a:ext cx="10972800" cy="320040"/>
          </a:xfrm>
          <a:prstGeom prst="rect">
            <a:avLst/>
          </a:prstGeom>
          <a:noFill/>
        </p:spPr>
        <p:txBody>
          <a:bodyPr wrap="square">
            <a:spAutoFit/>
          </a:bodyPr>
          <a:lstStyle/>
          <a:p>
            <a:pPr algn="ctr"/>
            <a:r>
              <a:rPr sz="1400" b="0" i="0">
                <a:solidFill>
                  <a:srgbClr val="1D3557"/>
                </a:solidFill>
                <a:latin typeface="Calibri"/>
              </a:rPr>
              <a:t>Cross-side: more missions make the player base more valuable, and more players make missions worth building</a:t>
            </a:r>
          </a:p>
        </p:txBody>
      </p:sp>
      <p:sp>
        <p:nvSpPr>
          <p:cNvPr id="8" name="Rounded Rectangle 7"/>
          <p:cNvSpPr/>
          <p:nvPr/>
        </p:nvSpPr>
        <p:spPr>
          <a:xfrm>
            <a:off x="640080" y="1920240"/>
            <a:ext cx="3200400" cy="1234440"/>
          </a:xfrm>
          <a:prstGeom prst="roundRect">
            <a:avLst/>
          </a:prstGeom>
          <a:solidFill>
            <a:srgbClr val="FBF8F1"/>
          </a:solidFill>
          <a:ln>
            <a:solidFill>
              <a:srgbClr val="1C191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000"/>
              </a:spcBef>
            </a:pPr>
            <a:r>
              <a:rPr sz="1800" b="1" i="0">
                <a:solidFill>
                  <a:srgbClr val="1C1915"/>
                </a:solidFill>
                <a:latin typeface="Georgia"/>
              </a:rPr>
              <a:t>Players</a:t>
            </a:r>
          </a:p>
          <a:p>
            <a:pPr algn="ctr"/>
            <a:r>
              <a:rPr sz="1300" b="0" i="0">
                <a:solidFill>
                  <a:srgbClr val="8F2D2D"/>
                </a:solidFill>
                <a:latin typeface="Calibri"/>
              </a:rPr>
              <a:t>Money side</a:t>
            </a:r>
          </a:p>
        </p:txBody>
      </p:sp>
      <p:sp>
        <p:nvSpPr>
          <p:cNvPr id="9" name="Rounded Rectangle 8"/>
          <p:cNvSpPr/>
          <p:nvPr/>
        </p:nvSpPr>
        <p:spPr>
          <a:xfrm>
            <a:off x="4480560" y="1920240"/>
            <a:ext cx="3200400" cy="1234440"/>
          </a:xfrm>
          <a:prstGeom prst="roundRect">
            <a:avLst/>
          </a:prstGeom>
          <a:solidFill>
            <a:srgbClr val="1D3557"/>
          </a:solidFill>
          <a:ln>
            <a:solidFill>
              <a:srgbClr val="1D35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000"/>
              </a:spcBef>
            </a:pPr>
            <a:r>
              <a:rPr sz="1800" b="1" i="0">
                <a:solidFill>
                  <a:srgbClr val="FBF8F1"/>
                </a:solidFill>
                <a:latin typeface="Georgia"/>
              </a:rPr>
              <a:t>Rockstar</a:t>
            </a:r>
          </a:p>
          <a:p>
            <a:pPr algn="ctr"/>
            <a:r>
              <a:rPr sz="1300" b="0" i="0">
                <a:solidFill>
                  <a:srgbClr val="D5DEEA"/>
                </a:solidFill>
                <a:latin typeface="Calibri"/>
              </a:rPr>
              <a:t>Owns the world and the price</a:t>
            </a:r>
          </a:p>
        </p:txBody>
      </p:sp>
      <p:sp>
        <p:nvSpPr>
          <p:cNvPr id="10" name="Rounded Rectangle 9"/>
          <p:cNvSpPr/>
          <p:nvPr/>
        </p:nvSpPr>
        <p:spPr>
          <a:xfrm>
            <a:off x="8321040" y="1920240"/>
            <a:ext cx="3200400" cy="1234440"/>
          </a:xfrm>
          <a:prstGeom prst="roundRect">
            <a:avLst/>
          </a:prstGeom>
          <a:solidFill>
            <a:srgbClr val="FBF8F1"/>
          </a:solidFill>
          <a:ln>
            <a:solidFill>
              <a:srgbClr val="1E4D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000"/>
              </a:spcBef>
            </a:pPr>
            <a:r>
              <a:rPr sz="1800" b="1" i="0">
                <a:solidFill>
                  <a:srgbClr val="1C1915"/>
                </a:solidFill>
                <a:latin typeface="Georgia"/>
              </a:rPr>
              <a:t>Creators</a:t>
            </a:r>
          </a:p>
          <a:p>
            <a:pPr algn="ctr"/>
            <a:r>
              <a:rPr sz="1300" b="0" i="0">
                <a:solidFill>
                  <a:srgbClr val="1E4D3A"/>
                </a:solidFill>
                <a:latin typeface="Calibri"/>
              </a:rPr>
              <a:t>Subsidy side</a:t>
            </a:r>
          </a:p>
        </p:txBody>
      </p:sp>
      <p:sp>
        <p:nvSpPr>
          <p:cNvPr id="11" name="TextBox 10"/>
          <p:cNvSpPr txBox="1"/>
          <p:nvPr/>
        </p:nvSpPr>
        <p:spPr>
          <a:xfrm>
            <a:off x="640080" y="3246120"/>
            <a:ext cx="3200400" cy="365760"/>
          </a:xfrm>
          <a:prstGeom prst="rect">
            <a:avLst/>
          </a:prstGeom>
          <a:noFill/>
        </p:spPr>
        <p:txBody>
          <a:bodyPr wrap="square">
            <a:spAutoFit/>
          </a:bodyPr>
          <a:lstStyle/>
          <a:p>
            <a:pPr algn="ctr"/>
            <a:r>
              <a:rPr sz="1300" b="0" i="0">
                <a:solidFill>
                  <a:srgbClr val="8F2D2D"/>
                </a:solidFill>
                <a:latin typeface="Calibri"/>
              </a:rPr>
              <a:t>Pay $79.99, Ultimate, GTA+</a:t>
            </a:r>
          </a:p>
        </p:txBody>
      </p:sp>
      <p:sp>
        <p:nvSpPr>
          <p:cNvPr id="12" name="TextBox 11"/>
          <p:cNvSpPr txBox="1"/>
          <p:nvPr/>
        </p:nvSpPr>
        <p:spPr>
          <a:xfrm>
            <a:off x="4480560" y="3246120"/>
            <a:ext cx="3200400" cy="365760"/>
          </a:xfrm>
          <a:prstGeom prst="rect">
            <a:avLst/>
          </a:prstGeom>
          <a:noFill/>
        </p:spPr>
        <p:txBody>
          <a:bodyPr wrap="square">
            <a:spAutoFit/>
          </a:bodyPr>
          <a:lstStyle/>
          <a:p>
            <a:pPr algn="ctr"/>
            <a:r>
              <a:rPr sz="1300" b="0" i="0">
                <a:solidFill>
                  <a:srgbClr val="8A5A12"/>
                </a:solidFill>
                <a:latin typeface="Calibri"/>
              </a:rPr>
              <a:t>Ships a single-player pipeline first</a:t>
            </a:r>
          </a:p>
        </p:txBody>
      </p:sp>
      <p:sp>
        <p:nvSpPr>
          <p:cNvPr id="13" name="TextBox 12"/>
          <p:cNvSpPr txBox="1"/>
          <p:nvPr/>
        </p:nvSpPr>
        <p:spPr>
          <a:xfrm>
            <a:off x="8321040" y="3246120"/>
            <a:ext cx="3200400" cy="365760"/>
          </a:xfrm>
          <a:prstGeom prst="rect">
            <a:avLst/>
          </a:prstGeom>
          <a:noFill/>
        </p:spPr>
        <p:txBody>
          <a:bodyPr wrap="square">
            <a:spAutoFit/>
          </a:bodyPr>
          <a:lstStyle/>
          <a:p>
            <a:pPr algn="ctr"/>
            <a:r>
              <a:rPr sz="1300" b="0" i="0">
                <a:solidFill>
                  <a:srgbClr val="1E4D3A"/>
                </a:solidFill>
                <a:latin typeface="Calibri"/>
              </a:rPr>
              <a:t>Mission Creator stays free</a:t>
            </a:r>
          </a:p>
        </p:txBody>
      </p:sp>
      <p:sp>
        <p:nvSpPr>
          <p:cNvPr id="14" name="Rounded Rectangle 13"/>
          <p:cNvSpPr/>
          <p:nvPr/>
        </p:nvSpPr>
        <p:spPr>
          <a:xfrm>
            <a:off x="2103120" y="3977639"/>
            <a:ext cx="7955279" cy="777240"/>
          </a:xfrm>
          <a:prstGeom prst="roundRect">
            <a:avLst/>
          </a:prstGeom>
          <a:solidFill>
            <a:srgbClr val="FBF8F1"/>
          </a:solidFill>
          <a:ln>
            <a:solidFill>
              <a:srgbClr val="8A5A1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i="0">
                <a:solidFill>
                  <a:srgbClr val="1C1915"/>
                </a:solidFill>
                <a:latin typeface="Calibri"/>
              </a:rPr>
              <a:t>Same-side among players is positive. A console-only launch cuts that network on day one.</a:t>
            </a:r>
          </a:p>
        </p:txBody>
      </p:sp>
      <p:sp>
        <p:nvSpPr>
          <p:cNvPr id="15" name="TextBox 14"/>
          <p:cNvSpPr txBox="1"/>
          <p:nvPr/>
        </p:nvSpPr>
        <p:spPr>
          <a:xfrm>
            <a:off x="640080" y="4937760"/>
            <a:ext cx="10972800" cy="457200"/>
          </a:xfrm>
          <a:prstGeom prst="rect">
            <a:avLst/>
          </a:prstGeom>
          <a:noFill/>
        </p:spPr>
        <p:txBody>
          <a:bodyPr wrap="square">
            <a:spAutoFit/>
          </a:bodyPr>
          <a:lstStyle/>
          <a:p>
            <a:pPr algn="ctr"/>
            <a:r>
              <a:rPr sz="1500" b="0" i="0">
                <a:solidFill>
                  <a:srgbClr val="6F685C"/>
                </a:solidFill>
                <a:latin typeface="Calibri"/>
              </a:rPr>
              <a:t>Among creators, same-side effects can turn negative if missions compete for attention.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THE CONSOLE-FIRST WINDOW</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Delay has a price, even when marginal cost is low</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12  /  18</a:t>
            </a:r>
          </a:p>
        </p:txBody>
      </p:sp>
      <p:sp>
        <p:nvSpPr>
          <p:cNvPr id="7" name="TextBox 6"/>
          <p:cNvSpPr txBox="1"/>
          <p:nvPr/>
        </p:nvSpPr>
        <p:spPr>
          <a:xfrm>
            <a:off x="502920" y="1417320"/>
            <a:ext cx="11155680" cy="822960"/>
          </a:xfrm>
          <a:prstGeom prst="rect">
            <a:avLst/>
          </a:prstGeom>
          <a:noFill/>
        </p:spPr>
        <p:txBody>
          <a:bodyPr wrap="square">
            <a:spAutoFit/>
          </a:bodyPr>
          <a:lstStyle/>
          <a:p>
            <a:pPr algn="l"/>
            <a:r>
              <a:rPr sz="1600" b="0" i="0">
                <a:solidFill>
                  <a:srgbClr val="1C1915"/>
                </a:solidFill>
                <a:latin typeface="Calibri"/>
              </a:rPr>
              <a:t>Reported management benchmark: PC can be 45–50% of a big title that releases there. GTA V waited about 19 months. Company-wide PC is only 11% of revenue because mobile is half the firm.</a:t>
            </a:r>
          </a:p>
        </p:txBody>
      </p:sp>
      <p:graphicFrame>
        <p:nvGraphicFramePr>
          <p:cNvPr id="8" name="Table 7"/>
          <p:cNvGraphicFramePr>
            <a:graphicFrameLocks noGrp="1"/>
          </p:cNvGraphicFramePr>
          <p:nvPr/>
        </p:nvGraphicFramePr>
        <p:xfrm>
          <a:off x="502920" y="2377440"/>
          <a:ext cx="11155680" cy="2377440"/>
        </p:xfrm>
        <a:graphic>
          <a:graphicData uri="http://schemas.openxmlformats.org/drawingml/2006/table">
            <a:tbl>
              <a:tblPr firstRow="1" bandRow="1">
                <a:tableStyleId>{5C22544A-7EE6-4342-B048-85BDC9FD1C3A}</a:tableStyleId>
              </a:tblPr>
              <a:tblGrid>
                <a:gridCol w="3291840"/>
                <a:gridCol w="1828800"/>
                <a:gridCol w="2011680"/>
                <a:gridCol w="4023360"/>
              </a:tblGrid>
              <a:tr h="594360">
                <a:tc>
                  <a:txBody>
                    <a:bodyPr wrap="square"/>
                    <a:lstStyle/>
                    <a:p>
                      <a:r>
                        <a:rPr sz="1400" b="1" i="0">
                          <a:solidFill>
                            <a:srgbClr val="4A453C"/>
                          </a:solidFill>
                          <a:latin typeface="Calibri"/>
                        </a:rPr>
                        <a:t>Of each 10M potential PC buyers</a:t>
                      </a:r>
                    </a:p>
                  </a:txBody>
                  <a:tcPr anchor="ctr">
                    <a:solidFill>
                      <a:srgbClr val="EFEAE0"/>
                    </a:solidFill>
                  </a:tcPr>
                </a:tc>
                <a:tc>
                  <a:txBody>
                    <a:bodyPr wrap="square"/>
                    <a:lstStyle/>
                    <a:p>
                      <a:r>
                        <a:rPr sz="1400" b="1" i="0">
                          <a:solidFill>
                            <a:srgbClr val="4A453C"/>
                          </a:solidFill>
                          <a:latin typeface="Calibri"/>
                        </a:rPr>
                        <a:t>Later price</a:t>
                      </a:r>
                    </a:p>
                  </a:txBody>
                  <a:tcPr anchor="ctr">
                    <a:solidFill>
                      <a:srgbClr val="EFEAE0"/>
                    </a:solidFill>
                  </a:tcPr>
                </a:tc>
                <a:tc>
                  <a:txBody>
                    <a:bodyPr wrap="square"/>
                    <a:lstStyle/>
                    <a:p>
                      <a:r>
                        <a:rPr sz="1400" b="1" i="0">
                          <a:solidFill>
                            <a:srgbClr val="4A453C"/>
                          </a:solidFill>
                          <a:latin typeface="Calibri"/>
                        </a:rPr>
                        <a:t>Revenue</a:t>
                      </a:r>
                    </a:p>
                  </a:txBody>
                  <a:tcPr anchor="ctr">
                    <a:solidFill>
                      <a:srgbClr val="EFEAE0"/>
                    </a:solidFill>
                  </a:tcPr>
                </a:tc>
                <a:tc>
                  <a:txBody>
                    <a:bodyPr wrap="square"/>
                    <a:lstStyle/>
                    <a:p>
                      <a:r>
                        <a:rPr sz="1400" b="1" i="0">
                          <a:solidFill>
                            <a:srgbClr val="4A453C"/>
                          </a:solidFill>
                          <a:latin typeface="Calibri"/>
                        </a:rPr>
                        <a:t>Gap versus $80 now</a:t>
                      </a:r>
                    </a:p>
                  </a:txBody>
                  <a:tcPr anchor="ctr">
                    <a:solidFill>
                      <a:srgbClr val="EFEAE0"/>
                    </a:solidFill>
                  </a:tcPr>
                </a:tc>
              </a:tr>
              <a:tr h="594360">
                <a:tc>
                  <a:txBody>
                    <a:bodyPr wrap="square"/>
                    <a:lstStyle/>
                    <a:p>
                      <a:r>
                        <a:rPr sz="1400" b="0" i="0">
                          <a:solidFill>
                            <a:srgbClr val="1C1915"/>
                          </a:solidFill>
                          <a:latin typeface="Calibri"/>
                        </a:rPr>
                        <a:t>None lost, only delayed</a:t>
                      </a:r>
                    </a:p>
                  </a:txBody>
                  <a:tcPr anchor="ctr">
                    <a:solidFill>
                      <a:srgbClr val="FBF8F1"/>
                    </a:solidFill>
                  </a:tcPr>
                </a:tc>
                <a:tc>
                  <a:txBody>
                    <a:bodyPr wrap="square"/>
                    <a:lstStyle/>
                    <a:p>
                      <a:r>
                        <a:rPr sz="1400" b="0" i="0">
                          <a:solidFill>
                            <a:srgbClr val="1C1915"/>
                          </a:solidFill>
                          <a:latin typeface="Calibri"/>
                        </a:rPr>
                        <a:t>$79.99</a:t>
                      </a:r>
                    </a:p>
                  </a:txBody>
                  <a:tcPr anchor="ctr">
                    <a:solidFill>
                      <a:srgbClr val="FBF8F1"/>
                    </a:solidFill>
                  </a:tcPr>
                </a:tc>
                <a:tc>
                  <a:txBody>
                    <a:bodyPr wrap="square"/>
                    <a:lstStyle/>
                    <a:p>
                      <a:r>
                        <a:rPr sz="1400" b="0" i="0">
                          <a:solidFill>
                            <a:srgbClr val="1C1915"/>
                          </a:solidFill>
                          <a:latin typeface="Calibri"/>
                        </a:rPr>
                        <a:t>$800M later</a:t>
                      </a:r>
                    </a:p>
                  </a:txBody>
                  <a:tcPr anchor="ctr">
                    <a:solidFill>
                      <a:srgbClr val="FBF8F1"/>
                    </a:solidFill>
                  </a:tcPr>
                </a:tc>
                <a:tc>
                  <a:txBody>
                    <a:bodyPr wrap="square"/>
                    <a:lstStyle/>
                    <a:p>
                      <a:r>
                        <a:rPr sz="1400" b="0" i="0">
                          <a:solidFill>
                            <a:srgbClr val="1C1915"/>
                          </a:solidFill>
                          <a:latin typeface="Calibri"/>
                        </a:rPr>
                        <a:t>Time, and a smaller launch network</a:t>
                      </a:r>
                    </a:p>
                  </a:txBody>
                  <a:tcPr anchor="ctr">
                    <a:solidFill>
                      <a:srgbClr val="FBF8F1"/>
                    </a:solidFill>
                  </a:tcPr>
                </a:tc>
              </a:tr>
              <a:tr h="594360">
                <a:tc>
                  <a:txBody>
                    <a:bodyPr wrap="square"/>
                    <a:lstStyle/>
                    <a:p>
                      <a:r>
                        <a:rPr sz="1400" b="0" i="0">
                          <a:solidFill>
                            <a:srgbClr val="1C1915"/>
                          </a:solidFill>
                          <a:latin typeface="Calibri"/>
                        </a:rPr>
                        <a:t>15% lost</a:t>
                      </a:r>
                    </a:p>
                  </a:txBody>
                  <a:tcPr anchor="ctr">
                    <a:solidFill>
                      <a:srgbClr val="F4EFE4"/>
                    </a:solidFill>
                  </a:tcPr>
                </a:tc>
                <a:tc>
                  <a:txBody>
                    <a:bodyPr wrap="square"/>
                    <a:lstStyle/>
                    <a:p>
                      <a:r>
                        <a:rPr sz="1400" b="0" i="0">
                          <a:solidFill>
                            <a:srgbClr val="1C1915"/>
                          </a:solidFill>
                          <a:latin typeface="Calibri"/>
                        </a:rPr>
                        <a:t>$49.99</a:t>
                      </a:r>
                    </a:p>
                  </a:txBody>
                  <a:tcPr anchor="ctr">
                    <a:solidFill>
                      <a:srgbClr val="F4EFE4"/>
                    </a:solidFill>
                  </a:tcPr>
                </a:tc>
                <a:tc>
                  <a:txBody>
                    <a:bodyPr wrap="square"/>
                    <a:lstStyle/>
                    <a:p>
                      <a:r>
                        <a:rPr sz="1400" b="0" i="0">
                          <a:solidFill>
                            <a:srgbClr val="1C1915"/>
                          </a:solidFill>
                          <a:latin typeface="Calibri"/>
                        </a:rPr>
                        <a:t>$425M</a:t>
                      </a:r>
                    </a:p>
                  </a:txBody>
                  <a:tcPr anchor="ctr">
                    <a:solidFill>
                      <a:srgbClr val="F4EFE4"/>
                    </a:solidFill>
                  </a:tcPr>
                </a:tc>
                <a:tc>
                  <a:txBody>
                    <a:bodyPr wrap="square"/>
                    <a:lstStyle/>
                    <a:p>
                      <a:r>
                        <a:rPr sz="1400" b="0" i="0">
                          <a:solidFill>
                            <a:srgbClr val="1C1915"/>
                          </a:solidFill>
                          <a:latin typeface="Calibri"/>
                        </a:rPr>
                        <a:t>about $375M</a:t>
                      </a:r>
                    </a:p>
                  </a:txBody>
                  <a:tcPr anchor="ctr">
                    <a:solidFill>
                      <a:srgbClr val="F4EFE4"/>
                    </a:solidFill>
                  </a:tcPr>
                </a:tc>
              </a:tr>
              <a:tr h="594360">
                <a:tc>
                  <a:txBody>
                    <a:bodyPr wrap="square"/>
                    <a:lstStyle/>
                    <a:p>
                      <a:r>
                        <a:rPr sz="1400" b="0" i="0">
                          <a:solidFill>
                            <a:srgbClr val="1C1915"/>
                          </a:solidFill>
                          <a:latin typeface="Calibri"/>
                        </a:rPr>
                        <a:t>30% lost</a:t>
                      </a:r>
                    </a:p>
                  </a:txBody>
                  <a:tcPr anchor="ctr">
                    <a:solidFill>
                      <a:srgbClr val="FBF8F1"/>
                    </a:solidFill>
                  </a:tcPr>
                </a:tc>
                <a:tc>
                  <a:txBody>
                    <a:bodyPr wrap="square"/>
                    <a:lstStyle/>
                    <a:p>
                      <a:r>
                        <a:rPr sz="1400" b="0" i="0">
                          <a:solidFill>
                            <a:srgbClr val="1C1915"/>
                          </a:solidFill>
                          <a:latin typeface="Calibri"/>
                        </a:rPr>
                        <a:t>$39.99</a:t>
                      </a:r>
                    </a:p>
                  </a:txBody>
                  <a:tcPr anchor="ctr">
                    <a:solidFill>
                      <a:srgbClr val="FBF8F1"/>
                    </a:solidFill>
                  </a:tcPr>
                </a:tc>
                <a:tc>
                  <a:txBody>
                    <a:bodyPr wrap="square"/>
                    <a:lstStyle/>
                    <a:p>
                      <a:r>
                        <a:rPr sz="1400" b="0" i="0">
                          <a:solidFill>
                            <a:srgbClr val="1C1915"/>
                          </a:solidFill>
                          <a:latin typeface="Calibri"/>
                        </a:rPr>
                        <a:t>$280M</a:t>
                      </a:r>
                    </a:p>
                  </a:txBody>
                  <a:tcPr anchor="ctr">
                    <a:solidFill>
                      <a:srgbClr val="FBF8F1"/>
                    </a:solidFill>
                  </a:tcPr>
                </a:tc>
                <a:tc>
                  <a:txBody>
                    <a:bodyPr wrap="square"/>
                    <a:lstStyle/>
                    <a:p>
                      <a:r>
                        <a:rPr sz="1400" b="0" i="0">
                          <a:solidFill>
                            <a:srgbClr val="1C1915"/>
                          </a:solidFill>
                          <a:latin typeface="Calibri"/>
                        </a:rPr>
                        <a:t>about $520M</a:t>
                      </a:r>
                    </a:p>
                  </a:txBody>
                  <a:tcPr anchor="ctr">
                    <a:solidFill>
                      <a:srgbClr val="FBF8F1"/>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WHAT THE FIRM SHOULD DO</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Four moves, each tied to a model</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13  /  18</a:t>
            </a:r>
          </a:p>
        </p:txBody>
      </p:sp>
      <p:sp>
        <p:nvSpPr>
          <p:cNvPr id="7" name="TextBox 6"/>
          <p:cNvSpPr txBox="1"/>
          <p:nvPr/>
        </p:nvSpPr>
        <p:spPr>
          <a:xfrm>
            <a:off x="502920" y="1508760"/>
            <a:ext cx="11155680" cy="1051560"/>
          </a:xfrm>
          <a:prstGeom prst="rect">
            <a:avLst/>
          </a:prstGeom>
          <a:noFill/>
        </p:spPr>
        <p:txBody>
          <a:bodyPr wrap="square">
            <a:spAutoFit/>
          </a:bodyPr>
          <a:lstStyle/>
          <a:p>
            <a:pPr algn="l"/>
            <a:r>
              <a:rPr sz="1800" b="0" i="0">
                <a:solidFill>
                  <a:srgbClr val="1C1915"/>
                </a:solidFill>
                <a:latin typeface="Calibri"/>
              </a:rPr>
              <a:t>1   Because MC is near zero and |ε| must be about 1, treat $79.99 as a test and pre-commit the later cuts. Use Ultimate, not a higher base, for inelastic fans.</a:t>
            </a:r>
          </a:p>
        </p:txBody>
      </p:sp>
      <p:sp>
        <p:nvSpPr>
          <p:cNvPr id="8" name="TextBox 7"/>
          <p:cNvSpPr txBox="1"/>
          <p:nvPr/>
        </p:nvSpPr>
        <p:spPr>
          <a:xfrm>
            <a:off x="502920" y="2606039"/>
            <a:ext cx="11155680" cy="1051560"/>
          </a:xfrm>
          <a:prstGeom prst="rect">
            <a:avLst/>
          </a:prstGeom>
          <a:noFill/>
        </p:spPr>
        <p:txBody>
          <a:bodyPr wrap="square">
            <a:spAutoFit/>
          </a:bodyPr>
          <a:lstStyle/>
          <a:p>
            <a:pPr algn="l"/>
            <a:r>
              <a:rPr sz="1800" b="0" i="0">
                <a:solidFill>
                  <a:srgbClr val="1C1915"/>
                </a:solidFill>
                <a:latin typeface="Calibri"/>
              </a:rPr>
              <a:t>2   Because a missing PC date shrinks the same-side network, name the window now and price that release lower.</a:t>
            </a:r>
          </a:p>
        </p:txBody>
      </p:sp>
      <p:sp>
        <p:nvSpPr>
          <p:cNvPr id="9" name="TextBox 8"/>
          <p:cNvSpPr txBox="1"/>
          <p:nvPr/>
        </p:nvSpPr>
        <p:spPr>
          <a:xfrm>
            <a:off x="502920" y="3703320"/>
            <a:ext cx="11155680" cy="1051560"/>
          </a:xfrm>
          <a:prstGeom prst="rect">
            <a:avLst/>
          </a:prstGeom>
          <a:noFill/>
        </p:spPr>
        <p:txBody>
          <a:bodyPr wrap="square">
            <a:spAutoFit/>
          </a:bodyPr>
          <a:lstStyle/>
          <a:p>
            <a:pPr algn="l"/>
            <a:r>
              <a:rPr sz="1800" b="0" i="0">
                <a:solidFill>
                  <a:srgbClr val="1C1915"/>
                </a:solidFill>
                <a:latin typeface="Calibri"/>
              </a:rPr>
              <a:t>3   Because creators are the subsidy side, give Mission Creator away. Because differentiation protects the monopoly, do not become Roblox.</a:t>
            </a:r>
          </a:p>
        </p:txBody>
      </p:sp>
      <p:sp>
        <p:nvSpPr>
          <p:cNvPr id="10" name="TextBox 9"/>
          <p:cNvSpPr txBox="1"/>
          <p:nvPr/>
        </p:nvSpPr>
        <p:spPr>
          <a:xfrm>
            <a:off x="502920" y="4800600"/>
            <a:ext cx="11155680" cy="1051560"/>
          </a:xfrm>
          <a:prstGeom prst="rect">
            <a:avLst/>
          </a:prstGeom>
          <a:noFill/>
        </p:spPr>
        <p:txBody>
          <a:bodyPr wrap="square">
            <a:spAutoFit/>
          </a:bodyPr>
          <a:lstStyle/>
          <a:p>
            <a:pPr algn="l"/>
            <a:r>
              <a:rPr sz="1800" b="0" i="0">
                <a:solidFill>
                  <a:srgbClr val="1C1915"/>
                </a:solidFill>
                <a:latin typeface="Calibri"/>
              </a:rPr>
              <a:t>4   Because recurrent dollars are guided flat, do not “fix” a share that falls from 78% to 64% when the full game returns.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CLOSE</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What would change the recommendation</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14  /  18</a:t>
            </a:r>
          </a:p>
        </p:txBody>
      </p:sp>
      <p:sp>
        <p:nvSpPr>
          <p:cNvPr id="7" name="TextBox 6"/>
          <p:cNvSpPr txBox="1"/>
          <p:nvPr/>
        </p:nvSpPr>
        <p:spPr>
          <a:xfrm>
            <a:off x="502920" y="1554480"/>
            <a:ext cx="11064240" cy="2011680"/>
          </a:xfrm>
          <a:prstGeom prst="rect">
            <a:avLst/>
          </a:prstGeom>
          <a:noFill/>
        </p:spPr>
        <p:txBody>
          <a:bodyPr wrap="square">
            <a:spAutoFit/>
          </a:bodyPr>
          <a:lstStyle/>
          <a:p>
            <a:pPr algn="l"/>
            <a:r>
              <a:rPr sz="2200" b="0" i="0">
                <a:solidFill>
                  <a:srgbClr val="4A453C"/>
                </a:solidFill>
                <a:latin typeface="Georgia"/>
              </a:rPr>
              <a:t>If the first sales month shows |ε| well below 0.78, the sticker has room and the test passed. If comparable Rockstar PC demand is small, the delay is cheap. If recurrent dollars fall, rather than hold flat, the portfolio warning in recommendation 4 gets sharper.</a:t>
            </a:r>
          </a:p>
        </p:txBody>
      </p:sp>
      <p:sp>
        <p:nvSpPr>
          <p:cNvPr id="8" name="TextBox 7"/>
          <p:cNvSpPr txBox="1"/>
          <p:nvPr/>
        </p:nvSpPr>
        <p:spPr>
          <a:xfrm>
            <a:off x="502920" y="3840480"/>
            <a:ext cx="11064240" cy="731520"/>
          </a:xfrm>
          <a:prstGeom prst="rect">
            <a:avLst/>
          </a:prstGeom>
          <a:noFill/>
        </p:spPr>
        <p:txBody>
          <a:bodyPr wrap="square">
            <a:spAutoFit/>
          </a:bodyPr>
          <a:lstStyle/>
          <a:p>
            <a:pPr algn="l"/>
            <a:r>
              <a:rPr sz="1800" b="0" i="0">
                <a:solidFill>
                  <a:srgbClr val="1C1915"/>
                </a:solidFill>
                <a:latin typeface="Calibri"/>
              </a:rPr>
              <a:t>Assumptions, filings, and the live elasticity diagram are in the memo. Appendix slides are for Q&amp;A.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APPENDIX  ·  ALGEBRA</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Where 0.78 comes from</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15  /  18</a:t>
            </a:r>
          </a:p>
        </p:txBody>
      </p:sp>
      <p:sp>
        <p:nvSpPr>
          <p:cNvPr id="7" name="TextBox 6"/>
          <p:cNvSpPr txBox="1"/>
          <p:nvPr/>
        </p:nvSpPr>
        <p:spPr>
          <a:xfrm>
            <a:off x="502920" y="1554480"/>
            <a:ext cx="11064240" cy="1005840"/>
          </a:xfrm>
          <a:prstGeom prst="rect">
            <a:avLst/>
          </a:prstGeom>
          <a:noFill/>
        </p:spPr>
        <p:txBody>
          <a:bodyPr wrap="square">
            <a:spAutoFit/>
          </a:bodyPr>
          <a:lstStyle/>
          <a:p>
            <a:pPr algn="l"/>
            <a:r>
              <a:rPr sz="2000" b="0" i="0">
                <a:solidFill>
                  <a:srgbClr val="1C1915"/>
                </a:solidFill>
                <a:latin typeface="Calibri"/>
              </a:rPr>
              <a:t>Q = A − B P, forced through Q(69.99) = 35. With MC = 0, MR = 0 at the midpoint, so p* = A / (2B).</a:t>
            </a:r>
          </a:p>
        </p:txBody>
      </p:sp>
      <p:sp>
        <p:nvSpPr>
          <p:cNvPr id="8" name="TextBox 7"/>
          <p:cNvSpPr txBox="1"/>
          <p:nvPr/>
        </p:nvSpPr>
        <p:spPr>
          <a:xfrm>
            <a:off x="502920" y="2743200"/>
            <a:ext cx="11064240" cy="1188720"/>
          </a:xfrm>
          <a:prstGeom prst="rect">
            <a:avLst/>
          </a:prstGeom>
          <a:noFill/>
        </p:spPr>
        <p:txBody>
          <a:bodyPr wrap="square">
            <a:spAutoFit/>
          </a:bodyPr>
          <a:lstStyle/>
          <a:p>
            <a:pPr algn="l"/>
            <a:r>
              <a:rPr sz="2000" b="0" i="0">
                <a:solidFill>
                  <a:srgbClr val="1C1915"/>
                </a:solidFill>
                <a:latin typeface="Calibri"/>
              </a:rPr>
              <a:t>Set p* = 79.99 and solve. |ε| at $69.99 is about 0.78. The markup rule the course uses is (P − MC) / P = 1 / |ε|. At MC = 0 that is |ε| = 1, which for a linear curve is the midpoint.</a:t>
            </a:r>
          </a:p>
        </p:txBody>
      </p:sp>
      <p:sp>
        <p:nvSpPr>
          <p:cNvPr id="9" name="TextBox 8"/>
          <p:cNvSpPr txBox="1"/>
          <p:nvPr/>
        </p:nvSpPr>
        <p:spPr>
          <a:xfrm>
            <a:off x="502920" y="4114800"/>
            <a:ext cx="11064240" cy="1005840"/>
          </a:xfrm>
          <a:prstGeom prst="rect">
            <a:avLst/>
          </a:prstGeom>
          <a:noFill/>
        </p:spPr>
        <p:txBody>
          <a:bodyPr wrap="square">
            <a:spAutoFit/>
          </a:bodyPr>
          <a:lstStyle/>
          <a:p>
            <a:pPr algn="l"/>
            <a:r>
              <a:rPr sz="2000" b="0" i="0">
                <a:solidFill>
                  <a:srgbClr val="1C1915"/>
                </a:solidFill>
                <a:latin typeface="Calibri"/>
              </a:rPr>
              <a:t>A fee that takes a share τ of revenue multiplies R by (1 − τ) at every price. The maximizing price does not move.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APPENDIX  ·  READING THE LOSS</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Cash turned. Accounting has not caught up.</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16  /  18</a:t>
            </a:r>
          </a:p>
        </p:txBody>
      </p:sp>
      <p:graphicFrame>
        <p:nvGraphicFramePr>
          <p:cNvPr id="7" name="Table 6"/>
          <p:cNvGraphicFramePr>
            <a:graphicFrameLocks noGrp="1"/>
          </p:cNvGraphicFramePr>
          <p:nvPr/>
        </p:nvGraphicFramePr>
        <p:xfrm>
          <a:off x="502920" y="1463040"/>
          <a:ext cx="11155680" cy="2926080"/>
        </p:xfrm>
        <a:graphic>
          <a:graphicData uri="http://schemas.openxmlformats.org/drawingml/2006/table">
            <a:tbl>
              <a:tblPr firstRow="1" bandRow="1">
                <a:tableStyleId>{5C22544A-7EE6-4342-B048-85BDC9FD1C3A}</a:tableStyleId>
              </a:tblPr>
              <a:tblGrid>
                <a:gridCol w="2743200"/>
                <a:gridCol w="2103120"/>
                <a:gridCol w="2103120"/>
                <a:gridCol w="2103120"/>
                <a:gridCol w="2103120"/>
              </a:tblGrid>
              <a:tr h="585216">
                <a:tc>
                  <a:txBody>
                    <a:bodyPr wrap="square"/>
                    <a:lstStyle/>
                    <a:p>
                      <a:r>
                        <a:rPr sz="1500" b="1" i="0">
                          <a:solidFill>
                            <a:srgbClr val="4A453C"/>
                          </a:solidFill>
                          <a:latin typeface="Calibri"/>
                        </a:rPr>
                        <a:t/>
                      </a:r>
                    </a:p>
                  </a:txBody>
                  <a:tcPr anchor="ctr">
                    <a:solidFill>
                      <a:srgbClr val="EFEAE0"/>
                    </a:solidFill>
                  </a:tcPr>
                </a:tc>
                <a:tc>
                  <a:txBody>
                    <a:bodyPr wrap="square"/>
                    <a:lstStyle/>
                    <a:p>
                      <a:r>
                        <a:rPr sz="1500" b="1" i="0">
                          <a:solidFill>
                            <a:srgbClr val="4A453C"/>
                          </a:solidFill>
                          <a:latin typeface="Calibri"/>
                        </a:rPr>
                        <a:t>FY24</a:t>
                      </a:r>
                    </a:p>
                  </a:txBody>
                  <a:tcPr anchor="ctr">
                    <a:solidFill>
                      <a:srgbClr val="EFEAE0"/>
                    </a:solidFill>
                  </a:tcPr>
                </a:tc>
                <a:tc>
                  <a:txBody>
                    <a:bodyPr wrap="square"/>
                    <a:lstStyle/>
                    <a:p>
                      <a:r>
                        <a:rPr sz="1500" b="1" i="0">
                          <a:solidFill>
                            <a:srgbClr val="4A453C"/>
                          </a:solidFill>
                          <a:latin typeface="Calibri"/>
                        </a:rPr>
                        <a:t>FY25</a:t>
                      </a:r>
                    </a:p>
                  </a:txBody>
                  <a:tcPr anchor="ctr">
                    <a:solidFill>
                      <a:srgbClr val="EFEAE0"/>
                    </a:solidFill>
                  </a:tcPr>
                </a:tc>
                <a:tc>
                  <a:txBody>
                    <a:bodyPr wrap="square"/>
                    <a:lstStyle/>
                    <a:p>
                      <a:r>
                        <a:rPr sz="1500" b="1" i="0">
                          <a:solidFill>
                            <a:srgbClr val="4A453C"/>
                          </a:solidFill>
                          <a:latin typeface="Calibri"/>
                        </a:rPr>
                        <a:t>FY26</a:t>
                      </a:r>
                    </a:p>
                  </a:txBody>
                  <a:tcPr anchor="ctr">
                    <a:solidFill>
                      <a:srgbClr val="EFEAE0"/>
                    </a:solidFill>
                  </a:tcPr>
                </a:tc>
                <a:tc>
                  <a:txBody>
                    <a:bodyPr wrap="square"/>
                    <a:lstStyle/>
                    <a:p>
                      <a:r>
                        <a:rPr sz="1500" b="1" i="0">
                          <a:solidFill>
                            <a:srgbClr val="4A453C"/>
                          </a:solidFill>
                          <a:latin typeface="Calibri"/>
                        </a:rPr>
                        <a:t>FY27 guide</a:t>
                      </a:r>
                    </a:p>
                  </a:txBody>
                  <a:tcPr anchor="ctr">
                    <a:solidFill>
                      <a:srgbClr val="EFEAE0"/>
                    </a:solidFill>
                  </a:tcPr>
                </a:tc>
              </a:tr>
              <a:tr h="585216">
                <a:tc>
                  <a:txBody>
                    <a:bodyPr wrap="square"/>
                    <a:lstStyle/>
                    <a:p>
                      <a:r>
                        <a:rPr sz="1500" b="0" i="0">
                          <a:solidFill>
                            <a:srgbClr val="1C1915"/>
                          </a:solidFill>
                          <a:latin typeface="Calibri"/>
                        </a:rPr>
                        <a:t>Revenue</a:t>
                      </a:r>
                    </a:p>
                  </a:txBody>
                  <a:tcPr anchor="ctr">
                    <a:solidFill>
                      <a:srgbClr val="FBF8F1"/>
                    </a:solidFill>
                  </a:tcPr>
                </a:tc>
                <a:tc>
                  <a:txBody>
                    <a:bodyPr wrap="square"/>
                    <a:lstStyle/>
                    <a:p>
                      <a:r>
                        <a:rPr sz="1500" b="0" i="0">
                          <a:solidFill>
                            <a:srgbClr val="1C1915"/>
                          </a:solidFill>
                          <a:latin typeface="Calibri"/>
                        </a:rPr>
                        <a:t>5.35B</a:t>
                      </a:r>
                    </a:p>
                  </a:txBody>
                  <a:tcPr anchor="ctr">
                    <a:solidFill>
                      <a:srgbClr val="FBF8F1"/>
                    </a:solidFill>
                  </a:tcPr>
                </a:tc>
                <a:tc>
                  <a:txBody>
                    <a:bodyPr wrap="square"/>
                    <a:lstStyle/>
                    <a:p>
                      <a:r>
                        <a:rPr sz="1500" b="0" i="0">
                          <a:solidFill>
                            <a:srgbClr val="1C1915"/>
                          </a:solidFill>
                          <a:latin typeface="Calibri"/>
                        </a:rPr>
                        <a:t>5.63B</a:t>
                      </a:r>
                    </a:p>
                  </a:txBody>
                  <a:tcPr anchor="ctr">
                    <a:solidFill>
                      <a:srgbClr val="FBF8F1"/>
                    </a:solidFill>
                  </a:tcPr>
                </a:tc>
                <a:tc>
                  <a:txBody>
                    <a:bodyPr wrap="square"/>
                    <a:lstStyle/>
                    <a:p>
                      <a:r>
                        <a:rPr sz="1500" b="0" i="0">
                          <a:solidFill>
                            <a:srgbClr val="1C1915"/>
                          </a:solidFill>
                          <a:latin typeface="Calibri"/>
                        </a:rPr>
                        <a:t>6.66B</a:t>
                      </a:r>
                    </a:p>
                  </a:txBody>
                  <a:tcPr anchor="ctr">
                    <a:solidFill>
                      <a:srgbClr val="FBF8F1"/>
                    </a:solidFill>
                  </a:tcPr>
                </a:tc>
                <a:tc>
                  <a:txBody>
                    <a:bodyPr wrap="square"/>
                    <a:lstStyle/>
                    <a:p>
                      <a:r>
                        <a:rPr sz="1500" b="0" i="0">
                          <a:solidFill>
                            <a:srgbClr val="1C1915"/>
                          </a:solidFill>
                          <a:latin typeface="Calibri"/>
                        </a:rPr>
                        <a:t>7.9–8.1B</a:t>
                      </a:r>
                    </a:p>
                  </a:txBody>
                  <a:tcPr anchor="ctr">
                    <a:solidFill>
                      <a:srgbClr val="FBF8F1"/>
                    </a:solidFill>
                  </a:tcPr>
                </a:tc>
              </a:tr>
              <a:tr h="585216">
                <a:tc>
                  <a:txBody>
                    <a:bodyPr wrap="square"/>
                    <a:lstStyle/>
                    <a:p>
                      <a:r>
                        <a:rPr sz="1500" b="0" i="0">
                          <a:solidFill>
                            <a:srgbClr val="1C1915"/>
                          </a:solidFill>
                          <a:latin typeface="Calibri"/>
                        </a:rPr>
                        <a:t>Goodwill impairment</a:t>
                      </a:r>
                    </a:p>
                  </a:txBody>
                  <a:tcPr anchor="ctr">
                    <a:solidFill>
                      <a:srgbClr val="F4EFE4"/>
                    </a:solidFill>
                  </a:tcPr>
                </a:tc>
                <a:tc>
                  <a:txBody>
                    <a:bodyPr wrap="square"/>
                    <a:lstStyle/>
                    <a:p>
                      <a:r>
                        <a:rPr sz="1500" b="0" i="0">
                          <a:solidFill>
                            <a:srgbClr val="1C1915"/>
                          </a:solidFill>
                          <a:latin typeface="Calibri"/>
                        </a:rPr>
                        <a:t>2.34B</a:t>
                      </a:r>
                    </a:p>
                  </a:txBody>
                  <a:tcPr anchor="ctr">
                    <a:solidFill>
                      <a:srgbClr val="F4EFE4"/>
                    </a:solidFill>
                  </a:tcPr>
                </a:tc>
                <a:tc>
                  <a:txBody>
                    <a:bodyPr wrap="square"/>
                    <a:lstStyle/>
                    <a:p>
                      <a:r>
                        <a:rPr sz="1500" b="0" i="0">
                          <a:solidFill>
                            <a:srgbClr val="1C1915"/>
                          </a:solidFill>
                          <a:latin typeface="Calibri"/>
                        </a:rPr>
                        <a:t>3.55B</a:t>
                      </a:r>
                    </a:p>
                  </a:txBody>
                  <a:tcPr anchor="ctr">
                    <a:solidFill>
                      <a:srgbClr val="F4EFE4"/>
                    </a:solidFill>
                  </a:tcPr>
                </a:tc>
                <a:tc>
                  <a:txBody>
                    <a:bodyPr wrap="square"/>
                    <a:lstStyle/>
                    <a:p>
                      <a:r>
                        <a:rPr sz="1500" b="0" i="0">
                          <a:solidFill>
                            <a:srgbClr val="1C1915"/>
                          </a:solidFill>
                          <a:latin typeface="Calibri"/>
                        </a:rPr>
                        <a:t>—</a:t>
                      </a:r>
                    </a:p>
                  </a:txBody>
                  <a:tcPr anchor="ctr">
                    <a:solidFill>
                      <a:srgbClr val="F4EFE4"/>
                    </a:solidFill>
                  </a:tcPr>
                </a:tc>
                <a:tc>
                  <a:txBody>
                    <a:bodyPr wrap="square"/>
                    <a:lstStyle/>
                    <a:p>
                      <a:r>
                        <a:rPr sz="1500" b="0" i="0">
                          <a:solidFill>
                            <a:srgbClr val="1C1915"/>
                          </a:solidFill>
                          <a:latin typeface="Calibri"/>
                        </a:rPr>
                        <a:t>—</a:t>
                      </a:r>
                    </a:p>
                  </a:txBody>
                  <a:tcPr anchor="ctr">
                    <a:solidFill>
                      <a:srgbClr val="F4EFE4"/>
                    </a:solidFill>
                  </a:tcPr>
                </a:tc>
              </a:tr>
              <a:tr h="585216">
                <a:tc>
                  <a:txBody>
                    <a:bodyPr wrap="square"/>
                    <a:lstStyle/>
                    <a:p>
                      <a:r>
                        <a:rPr sz="1500" b="0" i="0">
                          <a:solidFill>
                            <a:srgbClr val="1C1915"/>
                          </a:solidFill>
                          <a:latin typeface="Calibri"/>
                        </a:rPr>
                        <a:t>Net income</a:t>
                      </a:r>
                    </a:p>
                  </a:txBody>
                  <a:tcPr anchor="ctr">
                    <a:solidFill>
                      <a:srgbClr val="FBF8F1"/>
                    </a:solidFill>
                  </a:tcPr>
                </a:tc>
                <a:tc>
                  <a:txBody>
                    <a:bodyPr wrap="square"/>
                    <a:lstStyle/>
                    <a:p>
                      <a:r>
                        <a:rPr sz="1500" b="0" i="0">
                          <a:solidFill>
                            <a:srgbClr val="1C1915"/>
                          </a:solidFill>
                          <a:latin typeface="Calibri"/>
                        </a:rPr>
                        <a:t>−3.74B</a:t>
                      </a:r>
                    </a:p>
                  </a:txBody>
                  <a:tcPr anchor="ctr">
                    <a:solidFill>
                      <a:srgbClr val="FBF8F1"/>
                    </a:solidFill>
                  </a:tcPr>
                </a:tc>
                <a:tc>
                  <a:txBody>
                    <a:bodyPr wrap="square"/>
                    <a:lstStyle/>
                    <a:p>
                      <a:r>
                        <a:rPr sz="1500" b="0" i="0">
                          <a:solidFill>
                            <a:srgbClr val="1C1915"/>
                          </a:solidFill>
                          <a:latin typeface="Calibri"/>
                        </a:rPr>
                        <a:t>−4.48B</a:t>
                      </a:r>
                    </a:p>
                  </a:txBody>
                  <a:tcPr anchor="ctr">
                    <a:solidFill>
                      <a:srgbClr val="FBF8F1"/>
                    </a:solidFill>
                  </a:tcPr>
                </a:tc>
                <a:tc>
                  <a:txBody>
                    <a:bodyPr wrap="square"/>
                    <a:lstStyle/>
                    <a:p>
                      <a:r>
                        <a:rPr sz="1500" b="0" i="0">
                          <a:solidFill>
                            <a:srgbClr val="1C1915"/>
                          </a:solidFill>
                          <a:latin typeface="Calibri"/>
                        </a:rPr>
                        <a:t>−0.30B</a:t>
                      </a:r>
                    </a:p>
                  </a:txBody>
                  <a:tcPr anchor="ctr">
                    <a:solidFill>
                      <a:srgbClr val="FBF8F1"/>
                    </a:solidFill>
                  </a:tcPr>
                </a:tc>
                <a:tc>
                  <a:txBody>
                    <a:bodyPr wrap="square"/>
                    <a:lstStyle/>
                    <a:p>
                      <a:r>
                        <a:rPr sz="1500" b="0" i="0">
                          <a:solidFill>
                            <a:srgbClr val="1C1915"/>
                          </a:solidFill>
                          <a:latin typeface="Calibri"/>
                        </a:rPr>
                        <a:t>+0.10 to 0.14B</a:t>
                      </a:r>
                    </a:p>
                  </a:txBody>
                  <a:tcPr anchor="ctr">
                    <a:solidFill>
                      <a:srgbClr val="FBF8F1"/>
                    </a:solidFill>
                  </a:tcPr>
                </a:tc>
              </a:tr>
              <a:tr h="585216">
                <a:tc>
                  <a:txBody>
                    <a:bodyPr wrap="square"/>
                    <a:lstStyle/>
                    <a:p>
                      <a:r>
                        <a:rPr sz="1500" b="0" i="0">
                          <a:solidFill>
                            <a:srgbClr val="1C1915"/>
                          </a:solidFill>
                          <a:latin typeface="Calibri"/>
                        </a:rPr>
                        <a:t>Operating cash flow</a:t>
                      </a:r>
                    </a:p>
                  </a:txBody>
                  <a:tcPr anchor="ctr">
                    <a:solidFill>
                      <a:srgbClr val="F4EFE4"/>
                    </a:solidFill>
                  </a:tcPr>
                </a:tc>
                <a:tc>
                  <a:txBody>
                    <a:bodyPr wrap="square"/>
                    <a:lstStyle/>
                    <a:p>
                      <a:r>
                        <a:rPr sz="1500" b="0" i="0">
                          <a:solidFill>
                            <a:srgbClr val="1C1915"/>
                          </a:solidFill>
                          <a:latin typeface="Calibri"/>
                        </a:rPr>
                        <a:t>−16M</a:t>
                      </a:r>
                    </a:p>
                  </a:txBody>
                  <a:tcPr anchor="ctr">
                    <a:solidFill>
                      <a:srgbClr val="F4EFE4"/>
                    </a:solidFill>
                  </a:tcPr>
                </a:tc>
                <a:tc>
                  <a:txBody>
                    <a:bodyPr wrap="square"/>
                    <a:lstStyle/>
                    <a:p>
                      <a:r>
                        <a:rPr sz="1500" b="0" i="0">
                          <a:solidFill>
                            <a:srgbClr val="1C1915"/>
                          </a:solidFill>
                          <a:latin typeface="Calibri"/>
                        </a:rPr>
                        <a:t>−45M</a:t>
                      </a:r>
                    </a:p>
                  </a:txBody>
                  <a:tcPr anchor="ctr">
                    <a:solidFill>
                      <a:srgbClr val="F4EFE4"/>
                    </a:solidFill>
                  </a:tcPr>
                </a:tc>
                <a:tc>
                  <a:txBody>
                    <a:bodyPr wrap="square"/>
                    <a:lstStyle/>
                    <a:p>
                      <a:r>
                        <a:rPr sz="1500" b="0" i="0">
                          <a:solidFill>
                            <a:srgbClr val="1C1915"/>
                          </a:solidFill>
                          <a:latin typeface="Calibri"/>
                        </a:rPr>
                        <a:t>+624M</a:t>
                      </a:r>
                    </a:p>
                  </a:txBody>
                  <a:tcPr anchor="ctr">
                    <a:solidFill>
                      <a:srgbClr val="F4EFE4"/>
                    </a:solidFill>
                  </a:tcPr>
                </a:tc>
                <a:tc>
                  <a:txBody>
                    <a:bodyPr wrap="square"/>
                    <a:lstStyle/>
                    <a:p>
                      <a:r>
                        <a:rPr sz="1500" b="0" i="0">
                          <a:solidFill>
                            <a:srgbClr val="1C1915"/>
                          </a:solidFill>
                          <a:latin typeface="Calibri"/>
                        </a:rPr>
                        <a:t>above 1B</a:t>
                      </a:r>
                    </a:p>
                  </a:txBody>
                  <a:tcPr anchor="ctr">
                    <a:solidFill>
                      <a:srgbClr val="F4EFE4"/>
                    </a:solidFill>
                  </a:tcPr>
                </a:tc>
              </a:tr>
            </a:tbl>
          </a:graphicData>
        </a:graphic>
      </p:graphicFrame>
      <p:sp>
        <p:nvSpPr>
          <p:cNvPr id="8" name="TextBox 7"/>
          <p:cNvSpPr txBox="1"/>
          <p:nvPr/>
        </p:nvSpPr>
        <p:spPr>
          <a:xfrm>
            <a:off x="502920" y="4709160"/>
            <a:ext cx="11155680" cy="1097280"/>
          </a:xfrm>
          <a:prstGeom prst="rect">
            <a:avLst/>
          </a:prstGeom>
          <a:noFill/>
        </p:spPr>
        <p:txBody>
          <a:bodyPr wrap="square">
            <a:spAutoFit/>
          </a:bodyPr>
          <a:lstStyle/>
          <a:p>
            <a:pPr algn="l"/>
            <a:r>
              <a:rPr sz="1800" b="0" i="0">
                <a:solidFill>
                  <a:srgbClr val="1C1915"/>
                </a:solidFill>
                <a:latin typeface="Calibri"/>
              </a:rPr>
              <a:t>Q1 FY27: bookings $1.39B, down 3%. A $43M impairment of a cancelled third-party title. That write-off is the sunk-cost rule applied correctly.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APPENDIX  ·  CONDUCT</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Why this is not Cournot week</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17  /  18</a:t>
            </a:r>
          </a:p>
        </p:txBody>
      </p:sp>
      <p:sp>
        <p:nvSpPr>
          <p:cNvPr id="7" name="TextBox 6"/>
          <p:cNvSpPr txBox="1"/>
          <p:nvPr/>
        </p:nvSpPr>
        <p:spPr>
          <a:xfrm>
            <a:off x="502920" y="1554480"/>
            <a:ext cx="11064240" cy="1463040"/>
          </a:xfrm>
          <a:prstGeom prst="rect">
            <a:avLst/>
          </a:prstGeom>
          <a:noFill/>
        </p:spPr>
        <p:txBody>
          <a:bodyPr wrap="square">
            <a:spAutoFit/>
          </a:bodyPr>
          <a:lstStyle/>
          <a:p>
            <a:pPr algn="l"/>
            <a:r>
              <a:rPr sz="2000" b="0" i="0">
                <a:solidFill>
                  <a:srgbClr val="1C1915"/>
                </a:solidFill>
                <a:latin typeface="Calibri"/>
              </a:rPr>
              <a:t>Publishers do react to each other. Other large games leave the week of November 19. That is a leader committing to a date, and rivals choosing quantities of attention around it.</a:t>
            </a:r>
          </a:p>
        </p:txBody>
      </p:sp>
      <p:sp>
        <p:nvSpPr>
          <p:cNvPr id="8" name="TextBox 7"/>
          <p:cNvSpPr txBox="1"/>
          <p:nvPr/>
        </p:nvSpPr>
        <p:spPr>
          <a:xfrm>
            <a:off x="502920" y="3200400"/>
            <a:ext cx="11064240" cy="1828800"/>
          </a:xfrm>
          <a:prstGeom prst="rect">
            <a:avLst/>
          </a:prstGeom>
          <a:noFill/>
        </p:spPr>
        <p:txBody>
          <a:bodyPr wrap="square">
            <a:spAutoFit/>
          </a:bodyPr>
          <a:lstStyle/>
          <a:p>
            <a:pPr algn="l"/>
            <a:r>
              <a:rPr sz="2000" b="0" i="0">
                <a:solidFill>
                  <a:srgbClr val="1C1915"/>
                </a:solidFill>
                <a:latin typeface="Calibri"/>
              </a:rPr>
              <a:t>The price of GTA VI is not a guess about EA’s quantity. EA’s fiscal 2026 bookings were $8.03 billion, the scale Take-Two is guiding to by adding one game. The goods are differentiated, so a Bertrand race to marginal cost does not start. Copyright is the barrier that keeps it from starting.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EFE4"/>
        </a:solidFill>
        <a:effectLst/>
      </p:bgPr>
    </p:bg>
    <p:spTree>
      <p:nvGrpSpPr>
        <p:cNvPr id="1" name=""/>
        <p:cNvGrpSpPr/>
        <p:nvPr/>
      </p:nvGrpSpPr>
      <p:grpSpPr/>
      <p:sp>
        <p:nvSpPr>
          <p:cNvPr id="2" name="TextBox 1"/>
          <p:cNvSpPr txBox="1"/>
          <p:nvPr/>
        </p:nvSpPr>
        <p:spPr>
          <a:xfrm>
            <a:off x="502920" y="256032"/>
            <a:ext cx="9144000" cy="256032"/>
          </a:xfrm>
          <a:prstGeom prst="rect">
            <a:avLst/>
          </a:prstGeom>
          <a:noFill/>
        </p:spPr>
        <p:txBody>
          <a:bodyPr wrap="square">
            <a:spAutoFit/>
          </a:bodyPr>
          <a:lstStyle/>
          <a:p>
            <a:pPr algn="l"/>
            <a:r>
              <a:rPr sz="1200" b="1" i="0">
                <a:solidFill>
                  <a:srgbClr val="8F2D2D"/>
                </a:solidFill>
                <a:latin typeface="Calibri"/>
              </a:rPr>
              <a:t>APPENDIX  ·  TOOLS</a:t>
            </a:r>
          </a:p>
        </p:txBody>
      </p:sp>
      <p:sp>
        <p:nvSpPr>
          <p:cNvPr id="3" name="TextBox 2"/>
          <p:cNvSpPr txBox="1"/>
          <p:nvPr/>
        </p:nvSpPr>
        <p:spPr>
          <a:xfrm>
            <a:off x="502920" y="475488"/>
            <a:ext cx="11155680" cy="777240"/>
          </a:xfrm>
          <a:prstGeom prst="rect">
            <a:avLst/>
          </a:prstGeom>
          <a:noFill/>
        </p:spPr>
        <p:txBody>
          <a:bodyPr wrap="square">
            <a:spAutoFit/>
          </a:bodyPr>
          <a:lstStyle/>
          <a:p>
            <a:pPr algn="l"/>
            <a:r>
              <a:rPr sz="3000" b="0" i="0">
                <a:solidFill>
                  <a:srgbClr val="1C1915"/>
                </a:solidFill>
                <a:latin typeface="Georgia"/>
              </a:rPr>
              <a:t>What was generated, and what was filed</a:t>
            </a:r>
          </a:p>
        </p:txBody>
      </p:sp>
      <p:sp>
        <p:nvSpPr>
          <p:cNvPr id="4" name="Rectangle 3"/>
          <p:cNvSpPr/>
          <p:nvPr/>
        </p:nvSpPr>
        <p:spPr>
          <a:xfrm>
            <a:off x="502920" y="6565392"/>
            <a:ext cx="11155680" cy="9525"/>
          </a:xfrm>
          <a:prstGeom prst="rect">
            <a:avLst/>
          </a:prstGeom>
          <a:solidFill>
            <a:srgbClr val="D4CC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83680"/>
            <a:ext cx="7315200" cy="237744"/>
          </a:xfrm>
          <a:prstGeom prst="rect">
            <a:avLst/>
          </a:prstGeom>
          <a:noFill/>
        </p:spPr>
        <p:txBody>
          <a:bodyPr wrap="square">
            <a:spAutoFit/>
          </a:bodyPr>
          <a:lstStyle/>
          <a:p>
            <a:pPr algn="l"/>
            <a:r>
              <a:rPr sz="1100" b="0" i="0">
                <a:solidFill>
                  <a:srgbClr val="6F685C"/>
                </a:solidFill>
                <a:latin typeface="Calibri"/>
              </a:rPr>
              <a:t>Take-Two  ·  GTA VI  ·  economics project</a:t>
            </a:r>
          </a:p>
        </p:txBody>
      </p:sp>
      <p:sp>
        <p:nvSpPr>
          <p:cNvPr id="6" name="TextBox 5"/>
          <p:cNvSpPr txBox="1"/>
          <p:nvPr/>
        </p:nvSpPr>
        <p:spPr>
          <a:xfrm>
            <a:off x="9509760" y="6583680"/>
            <a:ext cx="2148840" cy="237744"/>
          </a:xfrm>
          <a:prstGeom prst="rect">
            <a:avLst/>
          </a:prstGeom>
          <a:noFill/>
        </p:spPr>
        <p:txBody>
          <a:bodyPr wrap="square">
            <a:spAutoFit/>
          </a:bodyPr>
          <a:lstStyle/>
          <a:p>
            <a:pPr algn="r"/>
            <a:r>
              <a:rPr sz="1100" b="0" i="0">
                <a:solidFill>
                  <a:srgbClr val="6F685C"/>
                </a:solidFill>
                <a:latin typeface="Calibri"/>
              </a:rPr>
              <a:t>18  /  18</a:t>
            </a:r>
          </a:p>
        </p:txBody>
      </p:sp>
      <p:sp>
        <p:nvSpPr>
          <p:cNvPr id="7" name="TextBox 6"/>
          <p:cNvSpPr txBox="1"/>
          <p:nvPr/>
        </p:nvSpPr>
        <p:spPr>
          <a:xfrm>
            <a:off x="502920" y="1645920"/>
            <a:ext cx="11064240" cy="548640"/>
          </a:xfrm>
          <a:prstGeom prst="rect">
            <a:avLst/>
          </a:prstGeom>
          <a:noFill/>
        </p:spPr>
        <p:txBody>
          <a:bodyPr wrap="square">
            <a:spAutoFit/>
          </a:bodyPr>
          <a:lstStyle/>
          <a:p>
            <a:pPr algn="l"/>
            <a:r>
              <a:rPr sz="2800" b="0" i="0">
                <a:solidFill>
                  <a:srgbClr val="1C1915"/>
                </a:solidFill>
                <a:latin typeface="Georgia"/>
              </a:rPr>
              <a:t>Grok.</a:t>
            </a:r>
          </a:p>
        </p:txBody>
      </p:sp>
      <p:sp>
        <p:nvSpPr>
          <p:cNvPr id="8" name="TextBox 7"/>
          <p:cNvSpPr txBox="1"/>
          <p:nvPr/>
        </p:nvSpPr>
        <p:spPr>
          <a:xfrm>
            <a:off x="502920" y="2560320"/>
            <a:ext cx="11064240" cy="1463040"/>
          </a:xfrm>
          <a:prstGeom prst="rect">
            <a:avLst/>
          </a:prstGeom>
          <a:noFill/>
        </p:spPr>
        <p:txBody>
          <a:bodyPr wrap="square">
            <a:spAutoFit/>
          </a:bodyPr>
          <a:lstStyle/>
          <a:p>
            <a:pPr algn="l"/>
            <a:r>
              <a:rPr sz="2000" b="0" i="0">
                <a:solidFill>
                  <a:srgbClr val="1C1915"/>
                </a:solidFill>
                <a:latin typeface="Calibri"/>
              </a:rPr>
              <a:t>Not from a filing, and labeled as such: the 35 million unit anchor, the elasticity cases, the illustrative fixed cost, the PC-delay scenarios, and press accounts of the May 2026 Bloomberg interview.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Take-Two Interactive: The Eighty-Dollar Copy</dc:title>
  <dc:subject>Economics project deck on Grand Theft Auto VI</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Economics</cp:category>
</cp:coreProperties>
</file>